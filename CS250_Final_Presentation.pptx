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6" r:id="rId1"/>
  </p:sldMasterIdLst>
  <p:notesMasterIdLst>
    <p:notesMasterId r:id="rId9"/>
  </p:notesMasterIdLst>
  <p:sldIdLst>
    <p:sldId id="263" r:id="rId2"/>
    <p:sldId id="257" r:id="rId3"/>
    <p:sldId id="258" r:id="rId4"/>
    <p:sldId id="259" r:id="rId5"/>
    <p:sldId id="260" r:id="rId6"/>
    <p:sldId id="261" r:id="rId7"/>
    <p:sldId id="262" r:id="rId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95"/>
    <p:restoredTop sz="94610"/>
  </p:normalViewPr>
  <p:slideViewPr>
    <p:cSldViewPr snapToGrid="0" snapToObjects="1">
      <p:cViewPr>
        <p:scale>
          <a:sx n="110" d="100"/>
          <a:sy n="110" d="100"/>
        </p:scale>
        <p:origin x="1248"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467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Schwaber, K., &amp; Sutherland, J. (2020). The Scrum Guide: The definitive guide to Scrum: The rules of the game. Scrum Guides. https://scrumguides.org/docs/scrumguide/v2020/2020-Scrum-Guide-US.pdf
- Southern New Hampshire University. (n.d.-c). CS 250 Vision Quest software case study. https://learn.snhu.edu/content/enforced/2200182-CS-250-12292.202616-1/course_documents/CS%20250%20Vision%20Quest%20Software%20Case%20Study.pdf?isCourseFile=true&amp;ou=2200182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Schwaber, K., &amp; Sutherland, J. (2020). The Scrum Guide: The definitive guide to Scrum: The rules of the game. Scrum Guides. https://scrumguides.org/docs/scrumguide/v2020/2020-Scrum-Guide-US.pdf
- Southern New Hampshire University. (n.d.-b). CS 250 Product Owner and User Focus Group. https://snhu-media.snhu.edu/files/course_repository/undergraduate/cs/cs250/storyline/mod3/story_html5.html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Schwaber, K., &amp; Sutherland, J. (2020). The Scrum Guide: The definitive guide to Scrum: The rules of the game. Scrum Guides. https://scrumguides.org/docs/scrumguide/v2020/2020-Scrum-Guide-US.pdf
- Southern New Hampshire University. (n.d.-a). CS 250 Product Owner and Scrum-agile team. https://snhu-media.snhu.edu/files/course_repository/undergraduate/cs/cs250/storyline/mod5/story_html5.html
- Southern New Hampshire University. (n.d.-b). CS 250 Product Owner and User Focus Group. https://snhu-media.snhu.edu/files/course_repository/undergraduate/cs/cs250/storyline/mod3/story_html5.html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Atlassian. (2025). Agile vs. waterfall project management methodology. https://www.atlassian.com/agile/project-management/project-management-intro
- Southern New Hampshire University. (n.d.-c). CS 250 Vision Quest software case study. https://learn.snhu.edu/content/enforced/2200182-CS-250-12292.202616-1/course_documents/CS%20250%20Vision%20Quest%20Software%20Case%20Study.pdf?isCourseFile=true&amp;ou=2200182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Project Management Institute. (2022). Agile, traditional, and hybrid approaches to project success: Is hybrid a poor second choice? https://www.pmi.org/-/media/pmi/documents/public/pdf/publications/pmj/research-summaries/pmj-practitioner-insights_agile-traditional-hybrid-approaches-project-success.pdf
- Atlassian. (2025). Agile vs. waterfall project management methodology. https://www.atlassian.com/agile/project-management/project-management-intro
- Scrum Alliance. (2025). A simple guide to scrum. https://resources.scrumalliance.org/Article/a-simple-guide-to-scrum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Schwaber, K., &amp; Sutherland, J. (2020). The Scrum Guide: The definitive guide to Scrum: The rules of the game. Scrum Guides. https://scrumguides.org/docs/scrumguide/v2020/2020-Scrum-Guide-US.pdf
- Project Management Institute. (2022). Agile, traditional, and hybrid approaches to project success: Is hybrid a poor second choice? https://www.pmi.org/-/media/pmi/documents/public/pdf/publications/pmj/research-summaries/pmj-practitioner-insights_agile-traditional-hybrid-approaches-project-success.pdf
- Scrum Alliance. (2025). A simple guide to scrum. https://resources.scrumalliance.org/Article/a-simple-guide-to-scrum
- Atlassian. (2025). Agile vs. waterfall project management methodology. https://www.atlassian.com/agile/project-management/project-management-intro
- Southern New Hampshire University. (n.d.-a). CS 250 Product Owner and Scrum-agile team. https://snhu-media.snhu.edu/files/course_repository/undergraduate/cs/cs250/storyline/mod5/story_html5.html
- Southern New Hampshire University. (n.d.-b). CS 250 Product Owner and User Focus Group. https://snhu-media.snhu.edu/files/course_repository/undergraduate/cs/cs250/storyline/mod3/story_html5.html
- Southern New Hampshire University. (n.d.-c). CS 250 Vision Quest software case study. https://learn.snhu.edu/content/enforced/2200182-CS-250-12292.202616-1/course_documents/CS%20250%20Vision%20Quest%20Software%20Case%20Study.pdf?isCourseFile=true&amp;ou=2200182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4D08-B300-2A72-2BE6-8C1C13558E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E33DF3-7FA6-526A-97FC-F6E76B7CCD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D4E1FB-C8E3-C19F-1533-D76F586CB6B9}"/>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5" name="Footer Placeholder 4">
            <a:extLst>
              <a:ext uri="{FF2B5EF4-FFF2-40B4-BE49-F238E27FC236}">
                <a16:creationId xmlns:a16="http://schemas.microsoft.com/office/drawing/2014/main" id="{68395A30-706A-C576-2367-01DD38F488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0DDD87-5510-E4F4-F6B2-89A2BD0BAFAB}"/>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44007033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78EF0-F154-EA62-38B1-CA61AF3BC5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1E5B79-B656-96B1-FD55-122B702C12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8A0373-5CDE-FFAC-CC2E-26B30A90D2D6}"/>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5" name="Footer Placeholder 4">
            <a:extLst>
              <a:ext uri="{FF2B5EF4-FFF2-40B4-BE49-F238E27FC236}">
                <a16:creationId xmlns:a16="http://schemas.microsoft.com/office/drawing/2014/main" id="{17CD8DED-3E75-03BD-C8B9-235EF2AA53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78878E-94C1-F3FA-78FC-F276EEF98095}"/>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2184786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2801B-8CB0-C575-3DFC-C6748E31A6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C9D312-AAEC-2177-B6CE-618D5EB469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E887AB-E917-166B-AD44-162267D926C2}"/>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5" name="Footer Placeholder 4">
            <a:extLst>
              <a:ext uri="{FF2B5EF4-FFF2-40B4-BE49-F238E27FC236}">
                <a16:creationId xmlns:a16="http://schemas.microsoft.com/office/drawing/2014/main" id="{63BC78DB-5712-AEB4-3C9C-4B0A8FFC4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1D77C-A404-EC92-0A14-21A97547C0F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12818726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065D3-CD4D-A3DB-ED4F-284DCBBC70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7A561C-3FAA-8DFE-F4C4-3AF6C34C64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892E96-78A5-6960-3422-0D04928839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5937F5-42F1-B954-81B8-BD7C3471ACC3}"/>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6" name="Footer Placeholder 5">
            <a:extLst>
              <a:ext uri="{FF2B5EF4-FFF2-40B4-BE49-F238E27FC236}">
                <a16:creationId xmlns:a16="http://schemas.microsoft.com/office/drawing/2014/main" id="{DC5BA1F2-FC39-E37C-7D96-38AAA5C412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45EBFD-9A39-BFD8-E521-4ED1FB708298}"/>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61239497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1AADE-868B-460A-54D3-9C0705475D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F45E33-54A9-177A-016A-F2D466D1D8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474D85-D34C-494F-E8E3-329DCECEEA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B3FC29-DCE6-B68A-8B2B-FD6177A086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E40815-FB14-C387-0FDC-37AC42811C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1C3116-2579-2EC1-0A32-9F2F2468B8FC}"/>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8" name="Footer Placeholder 7">
            <a:extLst>
              <a:ext uri="{FF2B5EF4-FFF2-40B4-BE49-F238E27FC236}">
                <a16:creationId xmlns:a16="http://schemas.microsoft.com/office/drawing/2014/main" id="{11F80446-B641-8CB7-B081-DA146FC91E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EB125A-B478-1987-622F-6C85258D8082}"/>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41864498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B0496-754D-8D5D-4DD9-7BBE91D62D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0BDEFC-4C9E-260D-EED7-AF04F5CE3050}"/>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4" name="Footer Placeholder 3">
            <a:extLst>
              <a:ext uri="{FF2B5EF4-FFF2-40B4-BE49-F238E27FC236}">
                <a16:creationId xmlns:a16="http://schemas.microsoft.com/office/drawing/2014/main" id="{615C4137-7511-C31A-52CF-5E7844E008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461136-8E5D-BACC-438B-A5C09C1922BF}"/>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58925159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E0E8D6-A4F5-E640-00D7-F219DAF6D7F6}"/>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3" name="Footer Placeholder 2">
            <a:extLst>
              <a:ext uri="{FF2B5EF4-FFF2-40B4-BE49-F238E27FC236}">
                <a16:creationId xmlns:a16="http://schemas.microsoft.com/office/drawing/2014/main" id="{92632451-4017-6066-991F-1DCA8111E0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C1067B-46CF-E799-08F3-9C342781B19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28997945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873D3-9C69-F133-A41C-C6721E8924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CD84AE-CE4B-C70C-E101-00455186E3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A9CB55-385E-ADE4-30B0-5314E4BC8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D31BDE-4E36-05EB-1BC5-860479BCD714}"/>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6" name="Footer Placeholder 5">
            <a:extLst>
              <a:ext uri="{FF2B5EF4-FFF2-40B4-BE49-F238E27FC236}">
                <a16:creationId xmlns:a16="http://schemas.microsoft.com/office/drawing/2014/main" id="{7EFDFE08-3692-5F3C-FA87-CCC5DBFF22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919608-063B-DE61-47EA-C5ABB1A80C61}"/>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18223842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81B4B-1441-587B-CD35-D555101247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FF6B56-598D-E825-434A-24CE05AF70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DC5E1D-2BAF-DB4C-3907-FD3B023C8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07FE2C-4EFD-0C3F-1671-F7665DCB9B06}"/>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6" name="Footer Placeholder 5">
            <a:extLst>
              <a:ext uri="{FF2B5EF4-FFF2-40B4-BE49-F238E27FC236}">
                <a16:creationId xmlns:a16="http://schemas.microsoft.com/office/drawing/2014/main" id="{580127EA-4150-7F91-9515-AD1415E9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B3E3B5-6574-3420-9BCA-0A3B04B0A9E2}"/>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50100092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1158-AF0A-405F-D2FF-392ED356A6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492175-1137-E53C-4F3F-D9C7CD2152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2FB131-B573-68C4-54C7-69A7514F72E4}"/>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5" name="Footer Placeholder 4">
            <a:extLst>
              <a:ext uri="{FF2B5EF4-FFF2-40B4-BE49-F238E27FC236}">
                <a16:creationId xmlns:a16="http://schemas.microsoft.com/office/drawing/2014/main" id="{1F6DED54-CECF-35C7-FACA-F690F731A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C62DE-1311-8A78-9017-7A68CD888173}"/>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95280712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34B774-7A0A-F2A6-D1DA-DC4371996F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7E7696-B124-0C82-CC9C-A10648F94E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562F-BA9A-4435-BA38-CF471515F670}"/>
              </a:ext>
            </a:extLst>
          </p:cNvPr>
          <p:cNvSpPr>
            <a:spLocks noGrp="1"/>
          </p:cNvSpPr>
          <p:nvPr>
            <p:ph type="dt" sz="half" idx="10"/>
          </p:nvPr>
        </p:nvSpPr>
        <p:spPr/>
        <p:txBody>
          <a:bodyPr/>
          <a:lstStyle/>
          <a:p>
            <a:fld id="{C7006E3C-04A2-0548-818A-1934A81B719C}" type="datetimeFigureOut">
              <a:rPr lang="en-US" smtClean="0"/>
              <a:t>4/19/26</a:t>
            </a:fld>
            <a:endParaRPr lang="en-US"/>
          </a:p>
        </p:txBody>
      </p:sp>
      <p:sp>
        <p:nvSpPr>
          <p:cNvPr id="5" name="Footer Placeholder 4">
            <a:extLst>
              <a:ext uri="{FF2B5EF4-FFF2-40B4-BE49-F238E27FC236}">
                <a16:creationId xmlns:a16="http://schemas.microsoft.com/office/drawing/2014/main" id="{5F525BB4-CF39-F273-A9F2-00A16E536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FE4459-151A-30FB-666B-70EBB2BF650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60381597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8FAFC"/>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583680"/>
            <a:ext cx="320040" cy="137160"/>
          </a:xfrm>
          <a:prstGeom prst="rect">
            <a:avLst/>
          </a:prstGeom>
          <a:extLst>
            <a:ext uri="{C572A759-6A51-4108-AA02-DFA0A04FC94B}">
              <ma14:wrappingTextBoxFlag xmlns:ma14="http://schemas.microsoft.com/office/mac/drawingml/2011/main" xmlns="" val="0"/>
            </a:ext>
          </a:extLst>
        </p:spPr>
        <p:txBody>
          <a:bodyPr/>
          <a:lstStyle>
            <a:lvl1pPr>
              <a:defRPr sz="900">
                <a:solidFill>
                  <a:srgbClr val="475569"/>
                </a:solidFill>
                <a:latin typeface="Aptos"/>
                <a:ea typeface="Aptos"/>
                <a:cs typeface="Aptos"/>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138386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1B3556-AA41-96A4-EC4E-01763D7ED9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70E699-BFF9-06BD-722D-466BE33426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FEA7A1-66FC-C4F8-0C1E-B94BB221E5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006E3C-04A2-0548-818A-1934A81B719C}" type="datetimeFigureOut">
              <a:rPr lang="en-US" smtClean="0"/>
              <a:t>4/19/26</a:t>
            </a:fld>
            <a:endParaRPr lang="en-US"/>
          </a:p>
        </p:txBody>
      </p:sp>
      <p:sp>
        <p:nvSpPr>
          <p:cNvPr id="5" name="Footer Placeholder 4">
            <a:extLst>
              <a:ext uri="{FF2B5EF4-FFF2-40B4-BE49-F238E27FC236}">
                <a16:creationId xmlns:a16="http://schemas.microsoft.com/office/drawing/2014/main" id="{E344C400-89F7-BAA1-AED4-F565B4FA60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C62ABE-B8AC-8E8B-E736-E33CFF0749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795612588"/>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scrumguides.org/docs/scrumguide/v2020/2020-Scrum-Guide-US.pdf"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15">
            <a:extLst>
              <a:ext uri="{FF2B5EF4-FFF2-40B4-BE49-F238E27FC236}">
                <a16:creationId xmlns:a16="http://schemas.microsoft.com/office/drawing/2014/main" id="{F08645BB-F621-1BE8-CE53-D4C309D00182}"/>
              </a:ext>
            </a:extLst>
          </p:cNvPr>
          <p:cNvSpPr/>
          <p:nvPr/>
        </p:nvSpPr>
        <p:spPr>
          <a:xfrm>
            <a:off x="861060" y="1566704"/>
            <a:ext cx="10469880" cy="2908808"/>
          </a:xfrm>
          <a:prstGeom prst="roundRect">
            <a:avLst>
              <a:gd name="adj" fmla="val 4348"/>
            </a:avLst>
          </a:prstGeom>
          <a:solidFill>
            <a:srgbClr val="F1F5F9"/>
          </a:solidFill>
          <a:ln w="12700">
            <a:solidFill>
              <a:srgbClr val="E2E8F0"/>
            </a:solidFill>
            <a:prstDash val="solid"/>
          </a:ln>
        </p:spPr>
        <p:txBody>
          <a:bodyPr/>
          <a:lstStyle/>
          <a:p>
            <a:endParaRPr lang="en-US"/>
          </a:p>
        </p:txBody>
      </p:sp>
      <p:sp>
        <p:nvSpPr>
          <p:cNvPr id="2" name="Title 1">
            <a:extLst>
              <a:ext uri="{FF2B5EF4-FFF2-40B4-BE49-F238E27FC236}">
                <a16:creationId xmlns:a16="http://schemas.microsoft.com/office/drawing/2014/main" id="{EF855114-8395-CB5F-2525-29F743092A0E}"/>
              </a:ext>
            </a:extLst>
          </p:cNvPr>
          <p:cNvSpPr>
            <a:spLocks noGrp="1"/>
          </p:cNvSpPr>
          <p:nvPr>
            <p:ph type="ctrTitle"/>
          </p:nvPr>
        </p:nvSpPr>
        <p:spPr/>
        <p:txBody>
          <a:bodyPr>
            <a:normAutofit/>
          </a:bodyPr>
          <a:lstStyle/>
          <a:p>
            <a:r>
              <a:rPr lang="en-US" dirty="0">
                <a:solidFill>
                  <a:srgbClr val="0F172A"/>
                </a:solidFill>
                <a:latin typeface="Aptos Display" pitchFamily="34" charset="0"/>
                <a:ea typeface="Aptos Display" pitchFamily="34" charset="-122"/>
                <a:cs typeface="Aptos Display" pitchFamily="34" charset="-120"/>
              </a:rPr>
              <a:t>Scrum-Agile at </a:t>
            </a:r>
            <a:r>
              <a:rPr lang="en-US" dirty="0" err="1">
                <a:solidFill>
                  <a:srgbClr val="0F172A"/>
                </a:solidFill>
                <a:latin typeface="Aptos Display" pitchFamily="34" charset="0"/>
                <a:ea typeface="Aptos Display" pitchFamily="34" charset="-122"/>
                <a:cs typeface="Aptos Display" pitchFamily="34" charset="-120"/>
              </a:rPr>
              <a:t>ChadaTech</a:t>
            </a:r>
            <a:r>
              <a:rPr lang="en-US" dirty="0">
                <a:solidFill>
                  <a:srgbClr val="0F172A"/>
                </a:solidFill>
                <a:latin typeface="Aptos Display" pitchFamily="34" charset="0"/>
                <a:ea typeface="Aptos Display" pitchFamily="34" charset="-122"/>
                <a:cs typeface="Aptos Display" pitchFamily="34" charset="-120"/>
              </a:rPr>
              <a:t>:</a:t>
            </a:r>
            <a:br>
              <a:rPr lang="en-US" dirty="0"/>
            </a:br>
            <a:r>
              <a:rPr lang="en-US" dirty="0"/>
              <a:t>CS250 Final Project</a:t>
            </a:r>
          </a:p>
        </p:txBody>
      </p:sp>
      <p:sp>
        <p:nvSpPr>
          <p:cNvPr id="3" name="Subtitle 2">
            <a:extLst>
              <a:ext uri="{FF2B5EF4-FFF2-40B4-BE49-F238E27FC236}">
                <a16:creationId xmlns:a16="http://schemas.microsoft.com/office/drawing/2014/main" id="{D89A0BFE-F24E-130B-2205-F1951A71869E}"/>
              </a:ext>
            </a:extLst>
          </p:cNvPr>
          <p:cNvSpPr>
            <a:spLocks noGrp="1"/>
          </p:cNvSpPr>
          <p:nvPr>
            <p:ph type="subTitle" idx="1"/>
          </p:nvPr>
        </p:nvSpPr>
        <p:spPr>
          <a:xfrm>
            <a:off x="1188720" y="3836892"/>
            <a:ext cx="9144000" cy="1655762"/>
          </a:xfrm>
        </p:spPr>
        <p:txBody>
          <a:bodyPr/>
          <a:lstStyle/>
          <a:p>
            <a:r>
              <a:rPr lang="en-US" dirty="0"/>
              <a:t>By: Andrew Robert</a:t>
            </a:r>
          </a:p>
          <a:p>
            <a:endParaRPr lang="en-US" dirty="0"/>
          </a:p>
        </p:txBody>
      </p:sp>
    </p:spTree>
    <p:extLst>
      <p:ext uri="{BB962C8B-B14F-4D97-AF65-F5344CB8AC3E}">
        <p14:creationId xmlns:p14="http://schemas.microsoft.com/office/powerpoint/2010/main" val="1810383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694944"/>
            <a:ext cx="8046720" cy="38404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Roles on the Scrum-Agile Team</a:t>
            </a:r>
            <a:endParaRPr lang="en-US" sz="2400" dirty="0"/>
          </a:p>
        </p:txBody>
      </p:sp>
      <p:sp>
        <p:nvSpPr>
          <p:cNvPr id="3" name="Text 1"/>
          <p:cNvSpPr/>
          <p:nvPr/>
        </p:nvSpPr>
        <p:spPr>
          <a:xfrm>
            <a:off x="548640" y="1243584"/>
            <a:ext cx="9875520" cy="219456"/>
          </a:xfrm>
          <a:prstGeom prst="rect">
            <a:avLst/>
          </a:prstGeom>
          <a:noFill/>
          <a:ln/>
        </p:spPr>
        <p:txBody>
          <a:bodyPr wrap="square" lIns="0" tIns="0" rIns="0" bIns="0" rtlCol="0" anchor="ctr"/>
          <a:lstStyle/>
          <a:p>
            <a:pPr marL="0" indent="0">
              <a:buNone/>
            </a:pPr>
            <a:r>
              <a:rPr lang="en-US" sz="1150" dirty="0">
                <a:solidFill>
                  <a:srgbClr val="64748B"/>
                </a:solidFill>
                <a:latin typeface="Aptos" pitchFamily="34" charset="0"/>
                <a:ea typeface="Aptos" pitchFamily="34" charset="-122"/>
                <a:cs typeface="Aptos" pitchFamily="34" charset="-120"/>
              </a:rPr>
              <a:t>The team worked best when value, facilitation, development, and quality were clearly connected.</a:t>
            </a:r>
            <a:endParaRPr lang="en-US" sz="1150" dirty="0"/>
          </a:p>
        </p:txBody>
      </p:sp>
      <p:sp>
        <p:nvSpPr>
          <p:cNvPr id="4" name="Shape 2"/>
          <p:cNvSpPr/>
          <p:nvPr/>
        </p:nvSpPr>
        <p:spPr>
          <a:xfrm>
            <a:off x="548640" y="1572768"/>
            <a:ext cx="11064240" cy="0"/>
          </a:xfrm>
          <a:prstGeom prst="line">
            <a:avLst/>
          </a:prstGeom>
          <a:noFill/>
          <a:ln w="15240">
            <a:solidFill>
              <a:srgbClr val="CBD5E1"/>
            </a:solidFill>
            <a:prstDash val="solid"/>
          </a:ln>
        </p:spPr>
        <p:txBody>
          <a:bodyPr/>
          <a:lstStyle/>
          <a:p>
            <a:endParaRPr lang="en-US"/>
          </a:p>
        </p:txBody>
      </p:sp>
      <p:sp>
        <p:nvSpPr>
          <p:cNvPr id="5" name="Shape 3"/>
          <p:cNvSpPr/>
          <p:nvPr/>
        </p:nvSpPr>
        <p:spPr>
          <a:xfrm>
            <a:off x="640080" y="1783080"/>
            <a:ext cx="3063240" cy="3246120"/>
          </a:xfrm>
          <a:prstGeom prst="roundRect">
            <a:avLst>
              <a:gd name="adj" fmla="val 1493"/>
            </a:avLst>
          </a:prstGeom>
          <a:solidFill>
            <a:srgbClr val="FFFFFF"/>
          </a:solidFill>
          <a:ln w="19050">
            <a:solidFill>
              <a:srgbClr val="2563EB"/>
            </a:solidFill>
            <a:prstDash val="solid"/>
          </a:ln>
        </p:spPr>
        <p:txBody>
          <a:bodyPr/>
          <a:lstStyle/>
          <a:p>
            <a:endParaRPr lang="en-US"/>
          </a:p>
        </p:txBody>
      </p:sp>
      <p:sp>
        <p:nvSpPr>
          <p:cNvPr id="6" name="Shape 4"/>
          <p:cNvSpPr/>
          <p:nvPr/>
        </p:nvSpPr>
        <p:spPr>
          <a:xfrm>
            <a:off x="804672" y="1938528"/>
            <a:ext cx="2743200" cy="502920"/>
          </a:xfrm>
          <a:prstGeom prst="roundRect">
            <a:avLst>
              <a:gd name="adj" fmla="val 5455"/>
            </a:avLst>
          </a:prstGeom>
          <a:solidFill>
            <a:srgbClr val="DBEAFE"/>
          </a:solidFill>
          <a:ln w="12700">
            <a:solidFill>
              <a:srgbClr val="DBEAFE">
                <a:alpha val="0"/>
              </a:srgbClr>
            </a:solidFill>
            <a:prstDash val="solid"/>
          </a:ln>
        </p:spPr>
        <p:txBody>
          <a:bodyPr/>
          <a:lstStyle/>
          <a:p>
            <a:endParaRPr lang="en-US"/>
          </a:p>
        </p:txBody>
      </p:sp>
      <p:sp>
        <p:nvSpPr>
          <p:cNvPr id="7" name="Text 5"/>
          <p:cNvSpPr/>
          <p:nvPr/>
        </p:nvSpPr>
        <p:spPr>
          <a:xfrm>
            <a:off x="896112" y="2075688"/>
            <a:ext cx="2560320" cy="164592"/>
          </a:xfrm>
          <a:prstGeom prst="rect">
            <a:avLst/>
          </a:prstGeom>
          <a:noFill/>
          <a:ln/>
        </p:spPr>
        <p:txBody>
          <a:bodyPr wrap="square" lIns="0" tIns="0" rIns="0" bIns="0" rtlCol="0" anchor="ctr"/>
          <a:lstStyle/>
          <a:p>
            <a:pPr marL="0" indent="0" algn="ctr">
              <a:buNone/>
            </a:pPr>
            <a:r>
              <a:rPr lang="en-US" sz="1600" b="1" dirty="0">
                <a:solidFill>
                  <a:srgbClr val="2563EB"/>
                </a:solidFill>
                <a:latin typeface="Aptos" pitchFamily="34" charset="0"/>
                <a:ea typeface="Aptos" pitchFamily="34" charset="-122"/>
                <a:cs typeface="Aptos" pitchFamily="34" charset="-120"/>
              </a:rPr>
              <a:t>Product Owner</a:t>
            </a:r>
            <a:endParaRPr lang="en-US" sz="1600" dirty="0"/>
          </a:p>
        </p:txBody>
      </p:sp>
      <p:sp>
        <p:nvSpPr>
          <p:cNvPr id="8" name="Text 6"/>
          <p:cNvSpPr/>
          <p:nvPr/>
        </p:nvSpPr>
        <p:spPr>
          <a:xfrm>
            <a:off x="841248" y="2697480"/>
            <a:ext cx="2670048" cy="1417320"/>
          </a:xfrm>
          <a:prstGeom prst="rect">
            <a:avLst/>
          </a:prstGeom>
          <a:noFill/>
          <a:ln/>
        </p:spPr>
        <p:txBody>
          <a:bodyPr wrap="square" lIns="508" tIns="508" rIns="508" bIns="508" rtlCol="0" anchor="t"/>
          <a:lstStyle/>
          <a:p>
            <a:pPr marL="177800" indent="-177800">
              <a:buSzPct val="100000"/>
              <a:buChar char="•"/>
            </a:pPr>
            <a:r>
              <a:rPr lang="en-US" sz="1400" dirty="0">
                <a:solidFill>
                  <a:srgbClr val="334155"/>
                </a:solidFill>
                <a:latin typeface="Aptos" pitchFamily="34" charset="0"/>
                <a:ea typeface="Aptos" pitchFamily="34" charset="-122"/>
                <a:cs typeface="Aptos" pitchFamily="34" charset="-120"/>
              </a:rPr>
              <a:t>Orders the backlog by business value</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Clarifies what matters most for the customer</a:t>
            </a:r>
            <a:endParaRPr lang="en-US" sz="1400" dirty="0"/>
          </a:p>
        </p:txBody>
      </p:sp>
      <p:sp>
        <p:nvSpPr>
          <p:cNvPr id="9" name="Shape 7"/>
          <p:cNvSpPr/>
          <p:nvPr/>
        </p:nvSpPr>
        <p:spPr>
          <a:xfrm>
            <a:off x="4482084" y="1792224"/>
            <a:ext cx="3063240" cy="3246120"/>
          </a:xfrm>
          <a:prstGeom prst="roundRect">
            <a:avLst>
              <a:gd name="adj" fmla="val 1493"/>
            </a:avLst>
          </a:prstGeom>
          <a:solidFill>
            <a:srgbClr val="FFFFFF"/>
          </a:solidFill>
          <a:ln w="19050">
            <a:solidFill>
              <a:srgbClr val="0EA5A4"/>
            </a:solidFill>
            <a:prstDash val="solid"/>
          </a:ln>
        </p:spPr>
        <p:txBody>
          <a:bodyPr/>
          <a:lstStyle/>
          <a:p>
            <a:endParaRPr lang="en-US"/>
          </a:p>
        </p:txBody>
      </p:sp>
      <p:sp>
        <p:nvSpPr>
          <p:cNvPr id="10" name="Shape 8"/>
          <p:cNvSpPr/>
          <p:nvPr/>
        </p:nvSpPr>
        <p:spPr>
          <a:xfrm>
            <a:off x="4646676" y="1947672"/>
            <a:ext cx="2743200" cy="502920"/>
          </a:xfrm>
          <a:prstGeom prst="roundRect">
            <a:avLst>
              <a:gd name="adj" fmla="val 5455"/>
            </a:avLst>
          </a:prstGeom>
          <a:solidFill>
            <a:srgbClr val="CCFBF1"/>
          </a:solidFill>
          <a:ln w="12700">
            <a:solidFill>
              <a:srgbClr val="CCFBF1">
                <a:alpha val="0"/>
              </a:srgbClr>
            </a:solidFill>
            <a:prstDash val="solid"/>
          </a:ln>
        </p:spPr>
        <p:txBody>
          <a:bodyPr/>
          <a:lstStyle/>
          <a:p>
            <a:endParaRPr lang="en-US"/>
          </a:p>
        </p:txBody>
      </p:sp>
      <p:sp>
        <p:nvSpPr>
          <p:cNvPr id="11" name="Text 9"/>
          <p:cNvSpPr/>
          <p:nvPr/>
        </p:nvSpPr>
        <p:spPr>
          <a:xfrm>
            <a:off x="4738116" y="2084832"/>
            <a:ext cx="2560320" cy="164592"/>
          </a:xfrm>
          <a:prstGeom prst="rect">
            <a:avLst/>
          </a:prstGeom>
          <a:noFill/>
          <a:ln/>
        </p:spPr>
        <p:txBody>
          <a:bodyPr wrap="square" lIns="0" tIns="0" rIns="0" bIns="0" rtlCol="0" anchor="ctr"/>
          <a:lstStyle/>
          <a:p>
            <a:pPr marL="0" indent="0" algn="ctr">
              <a:buNone/>
            </a:pPr>
            <a:r>
              <a:rPr lang="en-US" sz="1600" b="1" dirty="0">
                <a:solidFill>
                  <a:srgbClr val="0EA5A4"/>
                </a:solidFill>
                <a:latin typeface="Aptos" pitchFamily="34" charset="0"/>
                <a:ea typeface="Aptos" pitchFamily="34" charset="-122"/>
                <a:cs typeface="Aptos" pitchFamily="34" charset="-120"/>
              </a:rPr>
              <a:t>Scrum Master</a:t>
            </a:r>
            <a:endParaRPr lang="en-US" sz="1600" dirty="0"/>
          </a:p>
        </p:txBody>
      </p:sp>
      <p:sp>
        <p:nvSpPr>
          <p:cNvPr id="12" name="Text 10"/>
          <p:cNvSpPr/>
          <p:nvPr/>
        </p:nvSpPr>
        <p:spPr>
          <a:xfrm>
            <a:off x="4683252" y="2706624"/>
            <a:ext cx="2670048" cy="1417320"/>
          </a:xfrm>
          <a:prstGeom prst="rect">
            <a:avLst/>
          </a:prstGeom>
          <a:noFill/>
          <a:ln/>
        </p:spPr>
        <p:txBody>
          <a:bodyPr wrap="square" lIns="508" tIns="508" rIns="508" bIns="508" rtlCol="0" anchor="t"/>
          <a:lstStyle/>
          <a:p>
            <a:pPr marL="177800" indent="-177800">
              <a:buSzPct val="100000"/>
              <a:buChar char="•"/>
            </a:pPr>
            <a:r>
              <a:rPr lang="en-US" sz="1400" dirty="0">
                <a:solidFill>
                  <a:srgbClr val="334155"/>
                </a:solidFill>
                <a:latin typeface="Aptos" pitchFamily="34" charset="0"/>
                <a:ea typeface="Aptos" pitchFamily="34" charset="-122"/>
                <a:cs typeface="Aptos" pitchFamily="34" charset="-120"/>
              </a:rPr>
              <a:t>Facilitates events and removes blockers</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Protects focus and supports team effectiveness</a:t>
            </a:r>
            <a:endParaRPr lang="en-US" sz="1400" dirty="0"/>
          </a:p>
        </p:txBody>
      </p:sp>
      <p:sp>
        <p:nvSpPr>
          <p:cNvPr id="13" name="Shape 11"/>
          <p:cNvSpPr/>
          <p:nvPr/>
        </p:nvSpPr>
        <p:spPr>
          <a:xfrm>
            <a:off x="8324088" y="1819657"/>
            <a:ext cx="3063240" cy="3246120"/>
          </a:xfrm>
          <a:prstGeom prst="roundRect">
            <a:avLst>
              <a:gd name="adj" fmla="val 1493"/>
            </a:avLst>
          </a:prstGeom>
          <a:solidFill>
            <a:srgbClr val="FFFFFF"/>
          </a:solidFill>
          <a:ln w="19050">
            <a:solidFill>
              <a:srgbClr val="F59E0B"/>
            </a:solidFill>
            <a:prstDash val="solid"/>
          </a:ln>
        </p:spPr>
        <p:txBody>
          <a:bodyPr/>
          <a:lstStyle/>
          <a:p>
            <a:endParaRPr lang="en-US"/>
          </a:p>
        </p:txBody>
      </p:sp>
      <p:sp>
        <p:nvSpPr>
          <p:cNvPr id="14" name="Shape 12"/>
          <p:cNvSpPr/>
          <p:nvPr/>
        </p:nvSpPr>
        <p:spPr>
          <a:xfrm>
            <a:off x="8488680" y="1975105"/>
            <a:ext cx="2743200" cy="502920"/>
          </a:xfrm>
          <a:prstGeom prst="roundRect">
            <a:avLst>
              <a:gd name="adj" fmla="val 5455"/>
            </a:avLst>
          </a:prstGeom>
          <a:solidFill>
            <a:srgbClr val="FEF3C7"/>
          </a:solidFill>
          <a:ln w="12700">
            <a:solidFill>
              <a:srgbClr val="FEF3C7">
                <a:alpha val="0"/>
              </a:srgbClr>
            </a:solidFill>
            <a:prstDash val="solid"/>
          </a:ln>
        </p:spPr>
        <p:txBody>
          <a:bodyPr/>
          <a:lstStyle/>
          <a:p>
            <a:endParaRPr lang="en-US"/>
          </a:p>
        </p:txBody>
      </p:sp>
      <p:sp>
        <p:nvSpPr>
          <p:cNvPr id="15" name="Text 13"/>
          <p:cNvSpPr/>
          <p:nvPr/>
        </p:nvSpPr>
        <p:spPr>
          <a:xfrm>
            <a:off x="8580120" y="2112265"/>
            <a:ext cx="2560320" cy="164592"/>
          </a:xfrm>
          <a:prstGeom prst="rect">
            <a:avLst/>
          </a:prstGeom>
          <a:noFill/>
          <a:ln/>
        </p:spPr>
        <p:txBody>
          <a:bodyPr wrap="square" lIns="0" tIns="0" rIns="0" bIns="0" rtlCol="0" anchor="ctr"/>
          <a:lstStyle/>
          <a:p>
            <a:pPr marL="0" indent="0" algn="ctr">
              <a:buNone/>
            </a:pPr>
            <a:r>
              <a:rPr lang="en-US" sz="1600" b="1" dirty="0">
                <a:solidFill>
                  <a:srgbClr val="F59E0B"/>
                </a:solidFill>
                <a:latin typeface="Aptos" pitchFamily="34" charset="0"/>
                <a:ea typeface="Aptos" pitchFamily="34" charset="-122"/>
                <a:cs typeface="Aptos" pitchFamily="34" charset="-120"/>
              </a:rPr>
              <a:t>Developers</a:t>
            </a:r>
            <a:endParaRPr lang="en-US" sz="1600" dirty="0"/>
          </a:p>
        </p:txBody>
      </p:sp>
      <p:sp>
        <p:nvSpPr>
          <p:cNvPr id="16" name="Text 14"/>
          <p:cNvSpPr/>
          <p:nvPr/>
        </p:nvSpPr>
        <p:spPr>
          <a:xfrm>
            <a:off x="8525256" y="2734057"/>
            <a:ext cx="2670048" cy="1417320"/>
          </a:xfrm>
          <a:prstGeom prst="rect">
            <a:avLst/>
          </a:prstGeom>
          <a:noFill/>
          <a:ln/>
        </p:spPr>
        <p:txBody>
          <a:bodyPr wrap="square" lIns="508" tIns="508" rIns="508" bIns="508" rtlCol="0" anchor="t"/>
          <a:lstStyle/>
          <a:p>
            <a:pPr marL="177800" indent="-177800">
              <a:buSzPct val="100000"/>
              <a:buChar char="•"/>
            </a:pPr>
            <a:r>
              <a:rPr lang="en-US" sz="1400" dirty="0">
                <a:solidFill>
                  <a:srgbClr val="334155"/>
                </a:solidFill>
                <a:latin typeface="Aptos" pitchFamily="34" charset="0"/>
                <a:ea typeface="Aptos" pitchFamily="34" charset="-122"/>
                <a:cs typeface="Aptos" pitchFamily="34" charset="-120"/>
              </a:rPr>
              <a:t>Build the increment and estimate work</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Adapt inside the sprint as details become clearer</a:t>
            </a:r>
            <a:endParaRPr lang="en-US" sz="1400" dirty="0"/>
          </a:p>
        </p:txBody>
      </p:sp>
      <p:sp>
        <p:nvSpPr>
          <p:cNvPr id="17" name="Shape 15"/>
          <p:cNvSpPr/>
          <p:nvPr/>
        </p:nvSpPr>
        <p:spPr>
          <a:xfrm>
            <a:off x="822960" y="5257800"/>
            <a:ext cx="10469880" cy="841248"/>
          </a:xfrm>
          <a:prstGeom prst="roundRect">
            <a:avLst>
              <a:gd name="adj" fmla="val 4348"/>
            </a:avLst>
          </a:prstGeom>
          <a:solidFill>
            <a:srgbClr val="F1F5F9"/>
          </a:solidFill>
          <a:ln w="12700">
            <a:solidFill>
              <a:srgbClr val="E2E8F0"/>
            </a:solidFill>
            <a:prstDash val="solid"/>
          </a:ln>
        </p:spPr>
        <p:txBody>
          <a:bodyPr/>
          <a:lstStyle/>
          <a:p>
            <a:endParaRPr lang="en-US"/>
          </a:p>
        </p:txBody>
      </p:sp>
      <p:sp>
        <p:nvSpPr>
          <p:cNvPr id="18" name="Text 16"/>
          <p:cNvSpPr/>
          <p:nvPr/>
        </p:nvSpPr>
        <p:spPr>
          <a:xfrm>
            <a:off x="1005840" y="5504688"/>
            <a:ext cx="10104120" cy="347472"/>
          </a:xfrm>
          <a:prstGeom prst="rect">
            <a:avLst/>
          </a:prstGeom>
          <a:noFill/>
          <a:ln/>
        </p:spPr>
        <p:txBody>
          <a:bodyPr wrap="square" lIns="0" tIns="0" rIns="0" bIns="0" rtlCol="0" anchor="ctr"/>
          <a:lstStyle/>
          <a:p>
            <a:pPr marL="0" indent="0" algn="l">
              <a:buNone/>
            </a:pPr>
            <a:r>
              <a:rPr lang="en-US" sz="1250" dirty="0">
                <a:latin typeface="Aptos" pitchFamily="34" charset="0"/>
                <a:ea typeface="Aptos" pitchFamily="34" charset="-122"/>
                <a:cs typeface="Aptos" pitchFamily="34" charset="-120"/>
              </a:rPr>
              <a:t>Course application: In this project, testing responsibilities were visible early instead of being pushed to the end. That matched the course team setup and the Vision Quest lesson that quality improves when testers work closely with the rest of the team.</a:t>
            </a:r>
            <a:endParaRPr lang="en-US" sz="1250" dirty="0"/>
          </a:p>
        </p:txBody>
      </p:sp>
      <p:sp>
        <p:nvSpPr>
          <p:cNvPr id="19" name="Text 17"/>
          <p:cNvSpPr/>
          <p:nvPr/>
        </p:nvSpPr>
        <p:spPr>
          <a:xfrm>
            <a:off x="530352" y="6583680"/>
            <a:ext cx="10515600" cy="146304"/>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Aptos" pitchFamily="34" charset="0"/>
                <a:ea typeface="Aptos" pitchFamily="34" charset="-122"/>
                <a:cs typeface="Aptos" pitchFamily="34" charset="-120"/>
              </a:rPr>
              <a:t>(Schwaber &amp; Sutherland, 2020; SNHU, n.d.-c)</a:t>
            </a:r>
            <a:endParaRPr lang="en-US" sz="850" dirty="0"/>
          </a:p>
        </p:txBody>
      </p:sp>
      <p:sp>
        <p:nvSpPr>
          <p:cNvPr id="25" name="Slide Number Placeholder 0"/>
          <p:cNvSpPr>
            <a:spLocks noGrp="1"/>
          </p:cNvSpPr>
          <p:nvPr>
            <p:ph type="sldNum" sz="quarter" idx="4294967295"/>
          </p:nvPr>
        </p:nvSpPr>
        <p:spPr>
          <a:xfrm>
            <a:off x="11658600" y="6583680"/>
            <a:ext cx="320040" cy="137160"/>
          </a:xfrm>
          <a:prstGeom prst="rect">
            <a:avLst/>
          </a:prstGeom>
          <a:extLst>
            <a:ext uri="{C572A759-6A51-4108-AA02-DFA0A04FC94B}">
              <ma14:wrappingTextBoxFlag xmlns:ma14="http://schemas.microsoft.com/office/mac/drawingml/2011/main" xmlns="" val="0"/>
            </a:ext>
          </a:extLst>
        </p:spPr>
        <p:txBody>
          <a:bodyPr/>
          <a:lstStyle>
            <a:lvl1pPr>
              <a:defRPr sz="900">
                <a:solidFill>
                  <a:srgbClr val="475569"/>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8" name="Shape 15">
            <a:extLst>
              <a:ext uri="{FF2B5EF4-FFF2-40B4-BE49-F238E27FC236}">
                <a16:creationId xmlns:a16="http://schemas.microsoft.com/office/drawing/2014/main" id="{F28E4F87-5B0C-F744-9351-A6E6E72666C0}"/>
              </a:ext>
            </a:extLst>
          </p:cNvPr>
          <p:cNvSpPr/>
          <p:nvPr/>
        </p:nvSpPr>
        <p:spPr>
          <a:xfrm>
            <a:off x="1889760" y="5367528"/>
            <a:ext cx="8534400" cy="576070"/>
          </a:xfrm>
          <a:prstGeom prst="roundRect">
            <a:avLst>
              <a:gd name="adj" fmla="val 4348"/>
            </a:avLst>
          </a:prstGeom>
          <a:solidFill>
            <a:srgbClr val="F1F5F9"/>
          </a:solidFill>
          <a:ln w="12700">
            <a:solidFill>
              <a:srgbClr val="E2E8F0"/>
            </a:solidFill>
            <a:prstDash val="solid"/>
          </a:ln>
        </p:spPr>
        <p:txBody>
          <a:bodyPr/>
          <a:lstStyle/>
          <a:p>
            <a:endParaRPr lang="en-US"/>
          </a:p>
        </p:txBody>
      </p:sp>
      <p:sp>
        <p:nvSpPr>
          <p:cNvPr id="2" name="Text 0"/>
          <p:cNvSpPr/>
          <p:nvPr/>
        </p:nvSpPr>
        <p:spPr>
          <a:xfrm>
            <a:off x="548640" y="694944"/>
            <a:ext cx="8046720" cy="38404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How Agile Worked Through the SDLC</a:t>
            </a:r>
            <a:endParaRPr lang="en-US" sz="2400" dirty="0"/>
          </a:p>
        </p:txBody>
      </p:sp>
      <p:sp>
        <p:nvSpPr>
          <p:cNvPr id="3" name="Text 1"/>
          <p:cNvSpPr/>
          <p:nvPr/>
        </p:nvSpPr>
        <p:spPr>
          <a:xfrm>
            <a:off x="548640" y="1243584"/>
            <a:ext cx="9875520" cy="219456"/>
          </a:xfrm>
          <a:prstGeom prst="rect">
            <a:avLst/>
          </a:prstGeom>
          <a:noFill/>
          <a:ln/>
        </p:spPr>
        <p:txBody>
          <a:bodyPr wrap="square" lIns="0" tIns="0" rIns="0" bIns="0" rtlCol="0" anchor="ctr"/>
          <a:lstStyle/>
          <a:p>
            <a:pPr marL="0" indent="0">
              <a:buNone/>
            </a:pPr>
            <a:r>
              <a:rPr lang="en-US" sz="1150" dirty="0">
                <a:solidFill>
                  <a:srgbClr val="64748B"/>
                </a:solidFill>
                <a:latin typeface="Aptos" pitchFamily="34" charset="0"/>
                <a:ea typeface="Aptos" pitchFamily="34" charset="-122"/>
                <a:cs typeface="Aptos" pitchFamily="34" charset="-120"/>
              </a:rPr>
              <a:t>The project moved in short cycles instead of one long linear pass.</a:t>
            </a:r>
            <a:endParaRPr lang="en-US" sz="1150" dirty="0"/>
          </a:p>
        </p:txBody>
      </p:sp>
      <p:sp>
        <p:nvSpPr>
          <p:cNvPr id="4" name="Shape 2"/>
          <p:cNvSpPr/>
          <p:nvPr/>
        </p:nvSpPr>
        <p:spPr>
          <a:xfrm>
            <a:off x="548640" y="1572768"/>
            <a:ext cx="11064240" cy="0"/>
          </a:xfrm>
          <a:prstGeom prst="line">
            <a:avLst/>
          </a:prstGeom>
          <a:noFill/>
          <a:ln w="15240">
            <a:solidFill>
              <a:srgbClr val="CBD5E1"/>
            </a:solidFill>
            <a:prstDash val="solid"/>
          </a:ln>
        </p:spPr>
        <p:txBody>
          <a:bodyPr/>
          <a:lstStyle/>
          <a:p>
            <a:endParaRPr lang="en-US"/>
          </a:p>
        </p:txBody>
      </p:sp>
      <p:sp>
        <p:nvSpPr>
          <p:cNvPr id="5" name="Shape 3"/>
          <p:cNvSpPr/>
          <p:nvPr/>
        </p:nvSpPr>
        <p:spPr>
          <a:xfrm>
            <a:off x="594360" y="1993392"/>
            <a:ext cx="1975104" cy="3063240"/>
          </a:xfrm>
          <a:prstGeom prst="roundRect">
            <a:avLst>
              <a:gd name="adj" fmla="val 2315"/>
            </a:avLst>
          </a:prstGeom>
          <a:solidFill>
            <a:srgbClr val="FFFFFF"/>
          </a:solidFill>
          <a:ln w="17780">
            <a:solidFill>
              <a:srgbClr val="2563EB"/>
            </a:solidFill>
            <a:prstDash val="solid"/>
          </a:ln>
        </p:spPr>
        <p:txBody>
          <a:bodyPr/>
          <a:lstStyle/>
          <a:p>
            <a:endParaRPr lang="en-US"/>
          </a:p>
        </p:txBody>
      </p:sp>
      <p:sp>
        <p:nvSpPr>
          <p:cNvPr id="6" name="Shape 4"/>
          <p:cNvSpPr/>
          <p:nvPr/>
        </p:nvSpPr>
        <p:spPr>
          <a:xfrm>
            <a:off x="713232" y="2130552"/>
            <a:ext cx="1737360" cy="566928"/>
          </a:xfrm>
          <a:prstGeom prst="roundRect">
            <a:avLst>
              <a:gd name="adj" fmla="val 4839"/>
            </a:avLst>
          </a:prstGeom>
          <a:solidFill>
            <a:srgbClr val="DBEAFE"/>
          </a:solidFill>
          <a:ln w="12700">
            <a:solidFill>
              <a:srgbClr val="DBEAFE">
                <a:alpha val="0"/>
              </a:srgbClr>
            </a:solidFill>
            <a:prstDash val="solid"/>
          </a:ln>
        </p:spPr>
        <p:txBody>
          <a:bodyPr/>
          <a:lstStyle/>
          <a:p>
            <a:endParaRPr lang="en-US"/>
          </a:p>
        </p:txBody>
      </p:sp>
      <p:sp>
        <p:nvSpPr>
          <p:cNvPr id="7" name="Text 5"/>
          <p:cNvSpPr/>
          <p:nvPr/>
        </p:nvSpPr>
        <p:spPr>
          <a:xfrm>
            <a:off x="740664" y="2276856"/>
            <a:ext cx="1682496" cy="219456"/>
          </a:xfrm>
          <a:prstGeom prst="rect">
            <a:avLst/>
          </a:prstGeom>
          <a:noFill/>
          <a:ln/>
        </p:spPr>
        <p:txBody>
          <a:bodyPr wrap="square" lIns="0" tIns="0" rIns="0" bIns="0" rtlCol="0" anchor="ctr"/>
          <a:lstStyle/>
          <a:p>
            <a:pPr marL="0" indent="0" algn="ctr">
              <a:buNone/>
            </a:pPr>
            <a:r>
              <a:rPr lang="en-US" sz="1380" b="1" dirty="0">
                <a:solidFill>
                  <a:srgbClr val="2563EB"/>
                </a:solidFill>
                <a:latin typeface="Aptos" pitchFamily="34" charset="0"/>
                <a:ea typeface="Aptos" pitchFamily="34" charset="-122"/>
                <a:cs typeface="Aptos" pitchFamily="34" charset="-120"/>
              </a:rPr>
              <a:t>1. Discover needs</a:t>
            </a:r>
            <a:endParaRPr lang="en-US" sz="1380" dirty="0"/>
          </a:p>
        </p:txBody>
      </p:sp>
      <p:sp>
        <p:nvSpPr>
          <p:cNvPr id="8" name="Text 6"/>
          <p:cNvSpPr/>
          <p:nvPr/>
        </p:nvSpPr>
        <p:spPr>
          <a:xfrm>
            <a:off x="740664" y="2907792"/>
            <a:ext cx="1682496" cy="1645920"/>
          </a:xfrm>
          <a:prstGeom prst="rect">
            <a:avLst/>
          </a:prstGeom>
          <a:noFill/>
          <a:ln/>
        </p:spPr>
        <p:txBody>
          <a:bodyPr wrap="square" lIns="762" tIns="762" rIns="762" bIns="762" rtlCol="0" anchor="ctr"/>
          <a:lstStyle/>
          <a:p>
            <a:pPr marL="0" indent="0" algn="l">
              <a:buNone/>
            </a:pPr>
            <a:r>
              <a:rPr lang="en-US" sz="1240" dirty="0">
                <a:solidFill>
                  <a:srgbClr val="334155"/>
                </a:solidFill>
                <a:latin typeface="Aptos" pitchFamily="34" charset="0"/>
                <a:ea typeface="Aptos" pitchFamily="34" charset="-122"/>
                <a:cs typeface="Aptos" pitchFamily="34" charset="-120"/>
              </a:rPr>
              <a:t>Focus group feedback on destinations, profiles, price, and trip type</a:t>
            </a:r>
            <a:endParaRPr lang="en-US" sz="1240" dirty="0"/>
          </a:p>
        </p:txBody>
      </p:sp>
      <p:sp>
        <p:nvSpPr>
          <p:cNvPr id="9" name="Shape 7"/>
          <p:cNvSpPr/>
          <p:nvPr/>
        </p:nvSpPr>
        <p:spPr>
          <a:xfrm>
            <a:off x="2852928" y="1993392"/>
            <a:ext cx="1975104" cy="3063240"/>
          </a:xfrm>
          <a:prstGeom prst="roundRect">
            <a:avLst>
              <a:gd name="adj" fmla="val 2315"/>
            </a:avLst>
          </a:prstGeom>
          <a:solidFill>
            <a:srgbClr val="FFFFFF"/>
          </a:solidFill>
          <a:ln w="17780">
            <a:solidFill>
              <a:srgbClr val="0EA5A4"/>
            </a:solidFill>
            <a:prstDash val="solid"/>
          </a:ln>
        </p:spPr>
        <p:txBody>
          <a:bodyPr/>
          <a:lstStyle/>
          <a:p>
            <a:endParaRPr lang="en-US"/>
          </a:p>
        </p:txBody>
      </p:sp>
      <p:sp>
        <p:nvSpPr>
          <p:cNvPr id="10" name="Shape 8"/>
          <p:cNvSpPr/>
          <p:nvPr/>
        </p:nvSpPr>
        <p:spPr>
          <a:xfrm>
            <a:off x="2971800" y="2130552"/>
            <a:ext cx="1737360" cy="566928"/>
          </a:xfrm>
          <a:prstGeom prst="roundRect">
            <a:avLst>
              <a:gd name="adj" fmla="val 4839"/>
            </a:avLst>
          </a:prstGeom>
          <a:solidFill>
            <a:srgbClr val="CCFBF1"/>
          </a:solidFill>
          <a:ln w="12700">
            <a:solidFill>
              <a:srgbClr val="CCFBF1">
                <a:alpha val="0"/>
              </a:srgbClr>
            </a:solidFill>
            <a:prstDash val="solid"/>
          </a:ln>
        </p:spPr>
        <p:txBody>
          <a:bodyPr/>
          <a:lstStyle/>
          <a:p>
            <a:endParaRPr lang="en-US"/>
          </a:p>
        </p:txBody>
      </p:sp>
      <p:sp>
        <p:nvSpPr>
          <p:cNvPr id="11" name="Text 9"/>
          <p:cNvSpPr/>
          <p:nvPr/>
        </p:nvSpPr>
        <p:spPr>
          <a:xfrm>
            <a:off x="2999232" y="2276856"/>
            <a:ext cx="1682496" cy="219456"/>
          </a:xfrm>
          <a:prstGeom prst="rect">
            <a:avLst/>
          </a:prstGeom>
          <a:noFill/>
          <a:ln/>
        </p:spPr>
        <p:txBody>
          <a:bodyPr wrap="square" lIns="0" tIns="0" rIns="0" bIns="0" rtlCol="0" anchor="ctr"/>
          <a:lstStyle/>
          <a:p>
            <a:pPr marL="0" indent="0" algn="ctr">
              <a:buNone/>
            </a:pPr>
            <a:r>
              <a:rPr lang="en-US" sz="1380" b="1" dirty="0">
                <a:solidFill>
                  <a:srgbClr val="0EA5A4"/>
                </a:solidFill>
                <a:latin typeface="Aptos" pitchFamily="34" charset="0"/>
                <a:ea typeface="Aptos" pitchFamily="34" charset="-122"/>
                <a:cs typeface="Aptos" pitchFamily="34" charset="-120"/>
              </a:rPr>
              <a:t>2. Build backlog</a:t>
            </a:r>
            <a:endParaRPr lang="en-US" sz="1380" dirty="0"/>
          </a:p>
        </p:txBody>
      </p:sp>
      <p:sp>
        <p:nvSpPr>
          <p:cNvPr id="12" name="Text 10"/>
          <p:cNvSpPr/>
          <p:nvPr/>
        </p:nvSpPr>
        <p:spPr>
          <a:xfrm>
            <a:off x="2999232" y="2907792"/>
            <a:ext cx="1682496" cy="1645920"/>
          </a:xfrm>
          <a:prstGeom prst="rect">
            <a:avLst/>
          </a:prstGeom>
          <a:noFill/>
          <a:ln/>
        </p:spPr>
        <p:txBody>
          <a:bodyPr wrap="square" lIns="762" tIns="762" rIns="762" bIns="762" rtlCol="0" anchor="ctr"/>
          <a:lstStyle/>
          <a:p>
            <a:pPr marL="0" indent="0" algn="l">
              <a:buNone/>
            </a:pPr>
            <a:r>
              <a:rPr lang="en-US" sz="1240" dirty="0">
                <a:solidFill>
                  <a:srgbClr val="334155"/>
                </a:solidFill>
                <a:latin typeface="Aptos" pitchFamily="34" charset="0"/>
                <a:ea typeface="Aptos" pitchFamily="34" charset="-122"/>
                <a:cs typeface="Aptos" pitchFamily="34" charset="-120"/>
              </a:rPr>
              <a:t>Turn customer requests into prioritized user stories</a:t>
            </a:r>
            <a:endParaRPr lang="en-US" sz="1240" dirty="0"/>
          </a:p>
        </p:txBody>
      </p:sp>
      <p:sp>
        <p:nvSpPr>
          <p:cNvPr id="13" name="Shape 11"/>
          <p:cNvSpPr/>
          <p:nvPr/>
        </p:nvSpPr>
        <p:spPr>
          <a:xfrm>
            <a:off x="5111496" y="1993392"/>
            <a:ext cx="1975104" cy="3063240"/>
          </a:xfrm>
          <a:prstGeom prst="roundRect">
            <a:avLst>
              <a:gd name="adj" fmla="val 2315"/>
            </a:avLst>
          </a:prstGeom>
          <a:solidFill>
            <a:srgbClr val="FFFFFF"/>
          </a:solidFill>
          <a:ln w="17780">
            <a:solidFill>
              <a:srgbClr val="F59E0B"/>
            </a:solidFill>
            <a:prstDash val="solid"/>
          </a:ln>
        </p:spPr>
        <p:txBody>
          <a:bodyPr/>
          <a:lstStyle/>
          <a:p>
            <a:endParaRPr lang="en-US"/>
          </a:p>
        </p:txBody>
      </p:sp>
      <p:sp>
        <p:nvSpPr>
          <p:cNvPr id="14" name="Shape 12"/>
          <p:cNvSpPr/>
          <p:nvPr/>
        </p:nvSpPr>
        <p:spPr>
          <a:xfrm>
            <a:off x="5230368" y="2130552"/>
            <a:ext cx="1737360" cy="566928"/>
          </a:xfrm>
          <a:prstGeom prst="roundRect">
            <a:avLst>
              <a:gd name="adj" fmla="val 4839"/>
            </a:avLst>
          </a:prstGeom>
          <a:solidFill>
            <a:srgbClr val="FEF3C7"/>
          </a:solidFill>
          <a:ln w="12700">
            <a:solidFill>
              <a:srgbClr val="FEF3C7">
                <a:alpha val="0"/>
              </a:srgbClr>
            </a:solidFill>
            <a:prstDash val="solid"/>
          </a:ln>
        </p:spPr>
        <p:txBody>
          <a:bodyPr/>
          <a:lstStyle/>
          <a:p>
            <a:endParaRPr lang="en-US"/>
          </a:p>
        </p:txBody>
      </p:sp>
      <p:sp>
        <p:nvSpPr>
          <p:cNvPr id="15" name="Text 13"/>
          <p:cNvSpPr/>
          <p:nvPr/>
        </p:nvSpPr>
        <p:spPr>
          <a:xfrm>
            <a:off x="5257800" y="2276856"/>
            <a:ext cx="1682496" cy="219456"/>
          </a:xfrm>
          <a:prstGeom prst="rect">
            <a:avLst/>
          </a:prstGeom>
          <a:noFill/>
          <a:ln/>
        </p:spPr>
        <p:txBody>
          <a:bodyPr wrap="square" lIns="0" tIns="0" rIns="0" bIns="0" rtlCol="0" anchor="ctr"/>
          <a:lstStyle/>
          <a:p>
            <a:pPr marL="0" indent="0" algn="ctr">
              <a:buNone/>
            </a:pPr>
            <a:r>
              <a:rPr lang="en-US" sz="1380" b="1" dirty="0">
                <a:solidFill>
                  <a:srgbClr val="F59E0B"/>
                </a:solidFill>
                <a:latin typeface="Aptos" pitchFamily="34" charset="0"/>
                <a:ea typeface="Aptos" pitchFamily="34" charset="-122"/>
                <a:cs typeface="Aptos" pitchFamily="34" charset="-120"/>
              </a:rPr>
              <a:t>3. Plan the sprint</a:t>
            </a:r>
            <a:endParaRPr lang="en-US" sz="1380" dirty="0"/>
          </a:p>
        </p:txBody>
      </p:sp>
      <p:sp>
        <p:nvSpPr>
          <p:cNvPr id="16" name="Text 14"/>
          <p:cNvSpPr/>
          <p:nvPr/>
        </p:nvSpPr>
        <p:spPr>
          <a:xfrm>
            <a:off x="5257800" y="2907792"/>
            <a:ext cx="1682496" cy="1645920"/>
          </a:xfrm>
          <a:prstGeom prst="rect">
            <a:avLst/>
          </a:prstGeom>
          <a:noFill/>
          <a:ln/>
        </p:spPr>
        <p:txBody>
          <a:bodyPr wrap="square" lIns="762" tIns="762" rIns="762" bIns="762" rtlCol="0" anchor="ctr"/>
          <a:lstStyle/>
          <a:p>
            <a:pPr marL="0" indent="0" algn="l">
              <a:buNone/>
            </a:pPr>
            <a:r>
              <a:rPr lang="en-US" sz="1240" dirty="0">
                <a:solidFill>
                  <a:srgbClr val="334155"/>
                </a:solidFill>
                <a:latin typeface="Aptos" pitchFamily="34" charset="0"/>
                <a:ea typeface="Aptos" pitchFamily="34" charset="-122"/>
                <a:cs typeface="Aptos" pitchFamily="34" charset="-120"/>
              </a:rPr>
              <a:t>Choose realistic work for the next short cycle</a:t>
            </a:r>
            <a:endParaRPr lang="en-US" sz="1240" dirty="0"/>
          </a:p>
        </p:txBody>
      </p:sp>
      <p:sp>
        <p:nvSpPr>
          <p:cNvPr id="17" name="Shape 15"/>
          <p:cNvSpPr/>
          <p:nvPr/>
        </p:nvSpPr>
        <p:spPr>
          <a:xfrm>
            <a:off x="7370064" y="1993392"/>
            <a:ext cx="1975104" cy="3063240"/>
          </a:xfrm>
          <a:prstGeom prst="roundRect">
            <a:avLst>
              <a:gd name="adj" fmla="val 2315"/>
            </a:avLst>
          </a:prstGeom>
          <a:solidFill>
            <a:srgbClr val="FFFFFF"/>
          </a:solidFill>
          <a:ln w="17780">
            <a:solidFill>
              <a:srgbClr val="BE185D"/>
            </a:solidFill>
            <a:prstDash val="solid"/>
          </a:ln>
        </p:spPr>
        <p:txBody>
          <a:bodyPr/>
          <a:lstStyle/>
          <a:p>
            <a:endParaRPr lang="en-US"/>
          </a:p>
        </p:txBody>
      </p:sp>
      <p:sp>
        <p:nvSpPr>
          <p:cNvPr id="18" name="Shape 16"/>
          <p:cNvSpPr/>
          <p:nvPr/>
        </p:nvSpPr>
        <p:spPr>
          <a:xfrm>
            <a:off x="7488936" y="2130552"/>
            <a:ext cx="1737360" cy="566928"/>
          </a:xfrm>
          <a:prstGeom prst="roundRect">
            <a:avLst>
              <a:gd name="adj" fmla="val 4839"/>
            </a:avLst>
          </a:prstGeom>
          <a:solidFill>
            <a:srgbClr val="FCE7F3"/>
          </a:solidFill>
          <a:ln w="12700">
            <a:solidFill>
              <a:srgbClr val="FCE7F3">
                <a:alpha val="0"/>
              </a:srgbClr>
            </a:solidFill>
            <a:prstDash val="solid"/>
          </a:ln>
        </p:spPr>
        <p:txBody>
          <a:bodyPr/>
          <a:lstStyle/>
          <a:p>
            <a:endParaRPr lang="en-US"/>
          </a:p>
        </p:txBody>
      </p:sp>
      <p:sp>
        <p:nvSpPr>
          <p:cNvPr id="19" name="Text 17"/>
          <p:cNvSpPr/>
          <p:nvPr/>
        </p:nvSpPr>
        <p:spPr>
          <a:xfrm>
            <a:off x="7516368" y="2276856"/>
            <a:ext cx="1682496" cy="219456"/>
          </a:xfrm>
          <a:prstGeom prst="rect">
            <a:avLst/>
          </a:prstGeom>
          <a:noFill/>
          <a:ln/>
        </p:spPr>
        <p:txBody>
          <a:bodyPr wrap="square" lIns="0" tIns="0" rIns="0" bIns="0" rtlCol="0" anchor="ctr"/>
          <a:lstStyle/>
          <a:p>
            <a:pPr marL="0" indent="0" algn="ctr">
              <a:buNone/>
            </a:pPr>
            <a:r>
              <a:rPr lang="en-US" sz="1380" b="1" dirty="0">
                <a:solidFill>
                  <a:srgbClr val="BE185D"/>
                </a:solidFill>
                <a:latin typeface="Aptos" pitchFamily="34" charset="0"/>
                <a:ea typeface="Aptos" pitchFamily="34" charset="-122"/>
                <a:cs typeface="Aptos" pitchFamily="34" charset="-120"/>
              </a:rPr>
              <a:t>4. Develop + test</a:t>
            </a:r>
            <a:endParaRPr lang="en-US" sz="1380" dirty="0"/>
          </a:p>
        </p:txBody>
      </p:sp>
      <p:sp>
        <p:nvSpPr>
          <p:cNvPr id="20" name="Text 18"/>
          <p:cNvSpPr/>
          <p:nvPr/>
        </p:nvSpPr>
        <p:spPr>
          <a:xfrm>
            <a:off x="7516368" y="2907792"/>
            <a:ext cx="1682496" cy="1645920"/>
          </a:xfrm>
          <a:prstGeom prst="rect">
            <a:avLst/>
          </a:prstGeom>
          <a:noFill/>
          <a:ln/>
        </p:spPr>
        <p:txBody>
          <a:bodyPr wrap="square" lIns="762" tIns="762" rIns="762" bIns="762" rtlCol="0" anchor="ctr"/>
          <a:lstStyle/>
          <a:p>
            <a:pPr marL="0" indent="0" algn="l">
              <a:buNone/>
            </a:pPr>
            <a:r>
              <a:rPr lang="en-US" sz="1240" dirty="0">
                <a:solidFill>
                  <a:srgbClr val="334155"/>
                </a:solidFill>
                <a:latin typeface="Aptos" pitchFamily="34" charset="0"/>
                <a:ea typeface="Aptos" pitchFamily="34" charset="-122"/>
                <a:cs typeface="Aptos" pitchFamily="34" charset="-120"/>
              </a:rPr>
              <a:t>Implement features and verify them during the sprint</a:t>
            </a:r>
            <a:endParaRPr lang="en-US" sz="1240" dirty="0"/>
          </a:p>
        </p:txBody>
      </p:sp>
      <p:sp>
        <p:nvSpPr>
          <p:cNvPr id="21" name="Shape 19"/>
          <p:cNvSpPr/>
          <p:nvPr/>
        </p:nvSpPr>
        <p:spPr>
          <a:xfrm>
            <a:off x="9628632" y="1993392"/>
            <a:ext cx="1975104" cy="3063240"/>
          </a:xfrm>
          <a:prstGeom prst="roundRect">
            <a:avLst>
              <a:gd name="adj" fmla="val 2315"/>
            </a:avLst>
          </a:prstGeom>
          <a:solidFill>
            <a:srgbClr val="FFFFFF"/>
          </a:solidFill>
          <a:ln w="17780">
            <a:solidFill>
              <a:srgbClr val="6D28D9"/>
            </a:solidFill>
            <a:prstDash val="solid"/>
          </a:ln>
        </p:spPr>
        <p:txBody>
          <a:bodyPr/>
          <a:lstStyle/>
          <a:p>
            <a:endParaRPr lang="en-US"/>
          </a:p>
        </p:txBody>
      </p:sp>
      <p:sp>
        <p:nvSpPr>
          <p:cNvPr id="22" name="Shape 20"/>
          <p:cNvSpPr/>
          <p:nvPr/>
        </p:nvSpPr>
        <p:spPr>
          <a:xfrm>
            <a:off x="9747504" y="2130552"/>
            <a:ext cx="1737360" cy="566928"/>
          </a:xfrm>
          <a:prstGeom prst="roundRect">
            <a:avLst>
              <a:gd name="adj" fmla="val 4839"/>
            </a:avLst>
          </a:prstGeom>
          <a:solidFill>
            <a:srgbClr val="EDE9FE"/>
          </a:solidFill>
          <a:ln w="12700">
            <a:solidFill>
              <a:srgbClr val="EDE9FE">
                <a:alpha val="0"/>
              </a:srgbClr>
            </a:solidFill>
            <a:prstDash val="solid"/>
          </a:ln>
        </p:spPr>
        <p:txBody>
          <a:bodyPr/>
          <a:lstStyle/>
          <a:p>
            <a:endParaRPr lang="en-US"/>
          </a:p>
        </p:txBody>
      </p:sp>
      <p:sp>
        <p:nvSpPr>
          <p:cNvPr id="23" name="Text 21"/>
          <p:cNvSpPr/>
          <p:nvPr/>
        </p:nvSpPr>
        <p:spPr>
          <a:xfrm>
            <a:off x="9774936" y="2276856"/>
            <a:ext cx="1682496" cy="219456"/>
          </a:xfrm>
          <a:prstGeom prst="rect">
            <a:avLst/>
          </a:prstGeom>
          <a:noFill/>
          <a:ln/>
        </p:spPr>
        <p:txBody>
          <a:bodyPr wrap="square" lIns="0" tIns="0" rIns="0" bIns="0" rtlCol="0" anchor="ctr"/>
          <a:lstStyle/>
          <a:p>
            <a:pPr marL="0" indent="0" algn="ctr">
              <a:buNone/>
            </a:pPr>
            <a:r>
              <a:rPr lang="en-US" sz="1380" b="1" dirty="0">
                <a:solidFill>
                  <a:srgbClr val="6D28D9"/>
                </a:solidFill>
                <a:latin typeface="Aptos" pitchFamily="34" charset="0"/>
                <a:ea typeface="Aptos" pitchFamily="34" charset="-122"/>
                <a:cs typeface="Aptos" pitchFamily="34" charset="-120"/>
              </a:rPr>
              <a:t>5. Review + improve</a:t>
            </a:r>
            <a:endParaRPr lang="en-US" sz="1380" dirty="0"/>
          </a:p>
        </p:txBody>
      </p:sp>
      <p:sp>
        <p:nvSpPr>
          <p:cNvPr id="24" name="Text 22"/>
          <p:cNvSpPr/>
          <p:nvPr/>
        </p:nvSpPr>
        <p:spPr>
          <a:xfrm>
            <a:off x="9774936" y="2907792"/>
            <a:ext cx="1682496" cy="1645920"/>
          </a:xfrm>
          <a:prstGeom prst="rect">
            <a:avLst/>
          </a:prstGeom>
          <a:noFill/>
          <a:ln/>
        </p:spPr>
        <p:txBody>
          <a:bodyPr wrap="square" lIns="762" tIns="762" rIns="762" bIns="762" rtlCol="0" anchor="ctr"/>
          <a:lstStyle/>
          <a:p>
            <a:pPr marL="0" indent="0" algn="l">
              <a:buNone/>
            </a:pPr>
            <a:r>
              <a:rPr lang="en-US" sz="1240" dirty="0">
                <a:solidFill>
                  <a:srgbClr val="334155"/>
                </a:solidFill>
                <a:latin typeface="Aptos" pitchFamily="34" charset="0"/>
                <a:ea typeface="Aptos" pitchFamily="34" charset="-122"/>
                <a:cs typeface="Aptos" pitchFamily="34" charset="-120"/>
              </a:rPr>
              <a:t>Inspect results, then adjust priorities and process</a:t>
            </a:r>
            <a:endParaRPr lang="en-US" sz="1240" dirty="0"/>
          </a:p>
        </p:txBody>
      </p:sp>
      <p:sp>
        <p:nvSpPr>
          <p:cNvPr id="25" name="Text 23"/>
          <p:cNvSpPr/>
          <p:nvPr/>
        </p:nvSpPr>
        <p:spPr>
          <a:xfrm>
            <a:off x="731520" y="5513832"/>
            <a:ext cx="10789920" cy="256032"/>
          </a:xfrm>
          <a:prstGeom prst="rect">
            <a:avLst/>
          </a:prstGeom>
          <a:noFill/>
          <a:ln/>
        </p:spPr>
        <p:txBody>
          <a:bodyPr wrap="square" lIns="0" tIns="0" rIns="0" bIns="0" rtlCol="0" anchor="ctr"/>
          <a:lstStyle/>
          <a:p>
            <a:pPr marL="0" indent="0" algn="ctr">
              <a:buNone/>
            </a:pPr>
            <a:r>
              <a:rPr lang="en-US" sz="1300" dirty="0">
                <a:latin typeface="Aptos" pitchFamily="34" charset="0"/>
                <a:ea typeface="Aptos" pitchFamily="34" charset="-122"/>
                <a:cs typeface="Aptos" pitchFamily="34" charset="-120"/>
              </a:rPr>
              <a:t>Agile phases in this course mapped cleanly from discovery to backlog, sprint work, testing, review, and adaptation.</a:t>
            </a:r>
            <a:endParaRPr lang="en-US" sz="1300" dirty="0"/>
          </a:p>
        </p:txBody>
      </p:sp>
      <p:sp>
        <p:nvSpPr>
          <p:cNvPr id="26" name="Text 24"/>
          <p:cNvSpPr/>
          <p:nvPr/>
        </p:nvSpPr>
        <p:spPr>
          <a:xfrm>
            <a:off x="530352" y="6583680"/>
            <a:ext cx="10515600" cy="146304"/>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Aptos" pitchFamily="34" charset="0"/>
                <a:ea typeface="Aptos" pitchFamily="34" charset="-122"/>
                <a:cs typeface="Aptos" pitchFamily="34" charset="-120"/>
              </a:rPr>
              <a:t>(Schwaber &amp; Sutherland, 2020; SNHU, n.d.-b)</a:t>
            </a:r>
            <a:endParaRPr lang="en-US" sz="850" dirty="0"/>
          </a:p>
        </p:txBody>
      </p:sp>
      <p:sp>
        <p:nvSpPr>
          <p:cNvPr id="27" name="Slide Number Placeholder 0"/>
          <p:cNvSpPr>
            <a:spLocks noGrp="1"/>
          </p:cNvSpPr>
          <p:nvPr>
            <p:ph type="sldNum" sz="quarter" idx="4294967295"/>
          </p:nvPr>
        </p:nvSpPr>
        <p:spPr>
          <a:xfrm>
            <a:off x="11658600" y="6583680"/>
            <a:ext cx="320040" cy="137160"/>
          </a:xfrm>
          <a:prstGeom prst="rect">
            <a:avLst/>
          </a:prstGeom>
          <a:extLst>
            <a:ext uri="{C572A759-6A51-4108-AA02-DFA0A04FC94B}">
              <ma14:wrappingTextBoxFlag xmlns:ma14="http://schemas.microsoft.com/office/mac/drawingml/2011/main" xmlns="" val="0"/>
            </a:ext>
          </a:extLst>
        </p:spPr>
        <p:txBody>
          <a:bodyPr/>
          <a:lstStyle>
            <a:lvl1pPr>
              <a:defRPr sz="900">
                <a:solidFill>
                  <a:srgbClr val="475569"/>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694944"/>
            <a:ext cx="8046720" cy="38404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Agile in Action: The Project Changed, but the Deadline Stayed</a:t>
            </a:r>
            <a:endParaRPr lang="en-US" sz="2400" dirty="0"/>
          </a:p>
        </p:txBody>
      </p:sp>
      <p:sp>
        <p:nvSpPr>
          <p:cNvPr id="3" name="Text 1"/>
          <p:cNvSpPr/>
          <p:nvPr/>
        </p:nvSpPr>
        <p:spPr>
          <a:xfrm>
            <a:off x="548640" y="1243584"/>
            <a:ext cx="9875520" cy="219456"/>
          </a:xfrm>
          <a:prstGeom prst="rect">
            <a:avLst/>
          </a:prstGeom>
          <a:noFill/>
          <a:ln/>
        </p:spPr>
        <p:txBody>
          <a:bodyPr wrap="square" lIns="0" tIns="0" rIns="0" bIns="0" rtlCol="0" anchor="ctr"/>
          <a:lstStyle/>
          <a:p>
            <a:pPr marL="0" indent="0">
              <a:buNone/>
            </a:pPr>
            <a:r>
              <a:rPr lang="en-US" sz="1150" dirty="0">
                <a:solidFill>
                  <a:srgbClr val="64748B"/>
                </a:solidFill>
                <a:latin typeface="Aptos" pitchFamily="34" charset="0"/>
                <a:ea typeface="Aptos" pitchFamily="34" charset="-122"/>
                <a:cs typeface="Aptos" pitchFamily="34" charset="-120"/>
              </a:rPr>
              <a:t>This was the clearest example of why Scrum fit the SNHU Travel pilot.</a:t>
            </a:r>
            <a:endParaRPr lang="en-US" sz="1150" dirty="0"/>
          </a:p>
        </p:txBody>
      </p:sp>
      <p:sp>
        <p:nvSpPr>
          <p:cNvPr id="4" name="Shape 2"/>
          <p:cNvSpPr/>
          <p:nvPr/>
        </p:nvSpPr>
        <p:spPr>
          <a:xfrm>
            <a:off x="548640" y="1572768"/>
            <a:ext cx="11064240" cy="0"/>
          </a:xfrm>
          <a:prstGeom prst="line">
            <a:avLst/>
          </a:prstGeom>
          <a:noFill/>
          <a:ln w="15240">
            <a:solidFill>
              <a:srgbClr val="CBD5E1"/>
            </a:solidFill>
            <a:prstDash val="solid"/>
          </a:ln>
        </p:spPr>
        <p:txBody>
          <a:bodyPr/>
          <a:lstStyle/>
          <a:p>
            <a:endParaRPr lang="en-US"/>
          </a:p>
        </p:txBody>
      </p:sp>
      <p:sp>
        <p:nvSpPr>
          <p:cNvPr id="5" name="Shape 3"/>
          <p:cNvSpPr/>
          <p:nvPr/>
        </p:nvSpPr>
        <p:spPr>
          <a:xfrm>
            <a:off x="868680" y="3108960"/>
            <a:ext cx="5669280" cy="0"/>
          </a:xfrm>
          <a:prstGeom prst="line">
            <a:avLst/>
          </a:prstGeom>
          <a:noFill/>
          <a:ln w="31750">
            <a:solidFill>
              <a:srgbClr val="94A3B8"/>
            </a:solidFill>
            <a:prstDash val="solid"/>
          </a:ln>
        </p:spPr>
        <p:txBody>
          <a:bodyPr/>
          <a:lstStyle/>
          <a:p>
            <a:endParaRPr lang="en-US"/>
          </a:p>
        </p:txBody>
      </p:sp>
      <p:sp>
        <p:nvSpPr>
          <p:cNvPr id="6" name="Shape 4"/>
          <p:cNvSpPr/>
          <p:nvPr/>
        </p:nvSpPr>
        <p:spPr>
          <a:xfrm>
            <a:off x="1005840" y="2862072"/>
            <a:ext cx="493776" cy="493776"/>
          </a:xfrm>
          <a:prstGeom prst="ellipse">
            <a:avLst/>
          </a:prstGeom>
          <a:solidFill>
            <a:srgbClr val="2563EB"/>
          </a:solidFill>
          <a:ln w="12700">
            <a:solidFill>
              <a:srgbClr val="2563EB">
                <a:alpha val="0"/>
              </a:srgbClr>
            </a:solidFill>
            <a:prstDash val="solid"/>
          </a:ln>
        </p:spPr>
        <p:txBody>
          <a:bodyPr/>
          <a:lstStyle/>
          <a:p>
            <a:endParaRPr lang="en-US"/>
          </a:p>
        </p:txBody>
      </p:sp>
      <p:sp>
        <p:nvSpPr>
          <p:cNvPr id="7" name="Shape 5"/>
          <p:cNvSpPr/>
          <p:nvPr/>
        </p:nvSpPr>
        <p:spPr>
          <a:xfrm>
            <a:off x="749808" y="1810512"/>
            <a:ext cx="1051560" cy="420624"/>
          </a:xfrm>
          <a:prstGeom prst="roundRect">
            <a:avLst>
              <a:gd name="adj" fmla="val 6522"/>
            </a:avLst>
          </a:prstGeom>
          <a:solidFill>
            <a:srgbClr val="DBEAFE"/>
          </a:solidFill>
          <a:ln w="12700">
            <a:solidFill>
              <a:srgbClr val="DBEAFE">
                <a:alpha val="0"/>
              </a:srgbClr>
            </a:solidFill>
            <a:prstDash val="solid"/>
          </a:ln>
        </p:spPr>
        <p:txBody>
          <a:bodyPr/>
          <a:lstStyle/>
          <a:p>
            <a:endParaRPr lang="en-US"/>
          </a:p>
        </p:txBody>
      </p:sp>
      <p:sp>
        <p:nvSpPr>
          <p:cNvPr id="8" name="Text 6"/>
          <p:cNvSpPr/>
          <p:nvPr/>
        </p:nvSpPr>
        <p:spPr>
          <a:xfrm>
            <a:off x="822960" y="1938528"/>
            <a:ext cx="914400" cy="146304"/>
          </a:xfrm>
          <a:prstGeom prst="rect">
            <a:avLst/>
          </a:prstGeom>
          <a:noFill/>
          <a:ln/>
        </p:spPr>
        <p:txBody>
          <a:bodyPr wrap="square" lIns="0" tIns="0" rIns="0" bIns="0" rtlCol="0" anchor="ctr"/>
          <a:lstStyle/>
          <a:p>
            <a:pPr marL="0" indent="0" algn="ctr">
              <a:buNone/>
            </a:pPr>
            <a:r>
              <a:rPr lang="en-US" sz="1280" b="1" dirty="0">
                <a:solidFill>
                  <a:srgbClr val="2563EB"/>
                </a:solidFill>
                <a:latin typeface="Aptos" pitchFamily="34" charset="0"/>
                <a:ea typeface="Aptos" pitchFamily="34" charset="-122"/>
                <a:cs typeface="Aptos" pitchFamily="34" charset="-120"/>
              </a:rPr>
              <a:t>Module 3</a:t>
            </a:r>
            <a:endParaRPr lang="en-US" sz="1280" dirty="0"/>
          </a:p>
        </p:txBody>
      </p:sp>
      <p:sp>
        <p:nvSpPr>
          <p:cNvPr id="9" name="Text 7"/>
          <p:cNvSpPr/>
          <p:nvPr/>
        </p:nvSpPr>
        <p:spPr>
          <a:xfrm>
            <a:off x="457200" y="3611880"/>
            <a:ext cx="1645920" cy="1234440"/>
          </a:xfrm>
          <a:prstGeom prst="rect">
            <a:avLst/>
          </a:prstGeom>
          <a:noFill/>
          <a:ln/>
        </p:spPr>
        <p:txBody>
          <a:bodyPr wrap="square" lIns="254" tIns="254" rIns="254" bIns="254" rtlCol="0" anchor="t"/>
          <a:lstStyle/>
          <a:p>
            <a:pPr marL="0" indent="0" algn="ctr">
              <a:buNone/>
            </a:pPr>
            <a:r>
              <a:rPr lang="en-US" sz="1220" dirty="0">
                <a:solidFill>
                  <a:srgbClr val="334155"/>
                </a:solidFill>
                <a:latin typeface="Aptos" pitchFamily="34" charset="0"/>
                <a:ea typeface="Aptos" pitchFamily="34" charset="-122"/>
                <a:cs typeface="Aptos" pitchFamily="34" charset="-120"/>
              </a:rPr>
              <a:t>Backlog stories focused on destinations, profiles, and price limits.</a:t>
            </a:r>
            <a:endParaRPr lang="en-US" sz="1220" dirty="0"/>
          </a:p>
        </p:txBody>
      </p:sp>
      <p:sp>
        <p:nvSpPr>
          <p:cNvPr id="10" name="Shape 8"/>
          <p:cNvSpPr/>
          <p:nvPr/>
        </p:nvSpPr>
        <p:spPr>
          <a:xfrm>
            <a:off x="2971800" y="2862072"/>
            <a:ext cx="493776" cy="493776"/>
          </a:xfrm>
          <a:prstGeom prst="ellipse">
            <a:avLst/>
          </a:prstGeom>
          <a:solidFill>
            <a:srgbClr val="0EA5A4"/>
          </a:solidFill>
          <a:ln w="12700">
            <a:solidFill>
              <a:srgbClr val="0EA5A4">
                <a:alpha val="0"/>
              </a:srgbClr>
            </a:solidFill>
            <a:prstDash val="solid"/>
          </a:ln>
        </p:spPr>
        <p:txBody>
          <a:bodyPr/>
          <a:lstStyle/>
          <a:p>
            <a:endParaRPr lang="en-US"/>
          </a:p>
        </p:txBody>
      </p:sp>
      <p:sp>
        <p:nvSpPr>
          <p:cNvPr id="11" name="Shape 9"/>
          <p:cNvSpPr/>
          <p:nvPr/>
        </p:nvSpPr>
        <p:spPr>
          <a:xfrm>
            <a:off x="2715768" y="1810512"/>
            <a:ext cx="1051560" cy="420624"/>
          </a:xfrm>
          <a:prstGeom prst="roundRect">
            <a:avLst>
              <a:gd name="adj" fmla="val 6522"/>
            </a:avLst>
          </a:prstGeom>
          <a:solidFill>
            <a:srgbClr val="CCFBF1"/>
          </a:solidFill>
          <a:ln w="12700">
            <a:solidFill>
              <a:srgbClr val="CCFBF1">
                <a:alpha val="0"/>
              </a:srgbClr>
            </a:solidFill>
            <a:prstDash val="solid"/>
          </a:ln>
        </p:spPr>
        <p:txBody>
          <a:bodyPr/>
          <a:lstStyle/>
          <a:p>
            <a:endParaRPr lang="en-US"/>
          </a:p>
        </p:txBody>
      </p:sp>
      <p:sp>
        <p:nvSpPr>
          <p:cNvPr id="12" name="Text 10"/>
          <p:cNvSpPr/>
          <p:nvPr/>
        </p:nvSpPr>
        <p:spPr>
          <a:xfrm>
            <a:off x="2788920" y="1938528"/>
            <a:ext cx="914400" cy="146304"/>
          </a:xfrm>
          <a:prstGeom prst="rect">
            <a:avLst/>
          </a:prstGeom>
          <a:noFill/>
          <a:ln/>
        </p:spPr>
        <p:txBody>
          <a:bodyPr wrap="square" lIns="0" tIns="0" rIns="0" bIns="0" rtlCol="0" anchor="ctr"/>
          <a:lstStyle/>
          <a:p>
            <a:pPr marL="0" indent="0" algn="ctr">
              <a:buNone/>
            </a:pPr>
            <a:r>
              <a:rPr lang="en-US" sz="1280" b="1" dirty="0">
                <a:solidFill>
                  <a:srgbClr val="0EA5A4"/>
                </a:solidFill>
                <a:latin typeface="Aptos" pitchFamily="34" charset="0"/>
                <a:ea typeface="Aptos" pitchFamily="34" charset="-122"/>
                <a:cs typeface="Aptos" pitchFamily="34" charset="-120"/>
              </a:rPr>
              <a:t>Module 4</a:t>
            </a:r>
            <a:endParaRPr lang="en-US" sz="1280" dirty="0"/>
          </a:p>
        </p:txBody>
      </p:sp>
      <p:sp>
        <p:nvSpPr>
          <p:cNvPr id="13" name="Text 11"/>
          <p:cNvSpPr/>
          <p:nvPr/>
        </p:nvSpPr>
        <p:spPr>
          <a:xfrm>
            <a:off x="2423160" y="3611880"/>
            <a:ext cx="1645920" cy="1234440"/>
          </a:xfrm>
          <a:prstGeom prst="rect">
            <a:avLst/>
          </a:prstGeom>
          <a:noFill/>
          <a:ln/>
        </p:spPr>
        <p:txBody>
          <a:bodyPr wrap="square" lIns="254" tIns="254" rIns="254" bIns="254" rtlCol="0" anchor="t"/>
          <a:lstStyle/>
          <a:p>
            <a:pPr marL="0" indent="0" algn="ctr">
              <a:buNone/>
            </a:pPr>
            <a:r>
              <a:rPr lang="en-US" sz="1220" dirty="0">
                <a:solidFill>
                  <a:srgbClr val="334155"/>
                </a:solidFill>
                <a:latin typeface="Aptos" pitchFamily="34" charset="0"/>
                <a:ea typeface="Aptos" pitchFamily="34" charset="-122"/>
                <a:cs typeface="Aptos" pitchFamily="34" charset="-120"/>
              </a:rPr>
              <a:t>The destination story became a slideshow-style feature with revised tests.</a:t>
            </a:r>
            <a:endParaRPr lang="en-US" sz="1220" dirty="0"/>
          </a:p>
        </p:txBody>
      </p:sp>
      <p:sp>
        <p:nvSpPr>
          <p:cNvPr id="14" name="Shape 12"/>
          <p:cNvSpPr/>
          <p:nvPr/>
        </p:nvSpPr>
        <p:spPr>
          <a:xfrm>
            <a:off x="4937760" y="2862072"/>
            <a:ext cx="493776" cy="493776"/>
          </a:xfrm>
          <a:prstGeom prst="ellipse">
            <a:avLst/>
          </a:prstGeom>
          <a:solidFill>
            <a:srgbClr val="F59E0B"/>
          </a:solidFill>
          <a:ln w="12700">
            <a:solidFill>
              <a:srgbClr val="F59E0B">
                <a:alpha val="0"/>
              </a:srgbClr>
            </a:solidFill>
            <a:prstDash val="solid"/>
          </a:ln>
        </p:spPr>
        <p:txBody>
          <a:bodyPr/>
          <a:lstStyle/>
          <a:p>
            <a:endParaRPr lang="en-US"/>
          </a:p>
        </p:txBody>
      </p:sp>
      <p:sp>
        <p:nvSpPr>
          <p:cNvPr id="15" name="Shape 13"/>
          <p:cNvSpPr/>
          <p:nvPr/>
        </p:nvSpPr>
        <p:spPr>
          <a:xfrm>
            <a:off x="4681728" y="1810512"/>
            <a:ext cx="1051560" cy="420624"/>
          </a:xfrm>
          <a:prstGeom prst="roundRect">
            <a:avLst>
              <a:gd name="adj" fmla="val 6522"/>
            </a:avLst>
          </a:prstGeom>
          <a:solidFill>
            <a:srgbClr val="FEF3C7"/>
          </a:solidFill>
          <a:ln w="12700">
            <a:solidFill>
              <a:srgbClr val="FEF3C7">
                <a:alpha val="0"/>
              </a:srgbClr>
            </a:solidFill>
            <a:prstDash val="solid"/>
          </a:ln>
        </p:spPr>
        <p:txBody>
          <a:bodyPr/>
          <a:lstStyle/>
          <a:p>
            <a:endParaRPr lang="en-US"/>
          </a:p>
        </p:txBody>
      </p:sp>
      <p:sp>
        <p:nvSpPr>
          <p:cNvPr id="16" name="Text 14"/>
          <p:cNvSpPr/>
          <p:nvPr/>
        </p:nvSpPr>
        <p:spPr>
          <a:xfrm>
            <a:off x="4754880" y="1938528"/>
            <a:ext cx="914400" cy="146304"/>
          </a:xfrm>
          <a:prstGeom prst="rect">
            <a:avLst/>
          </a:prstGeom>
          <a:noFill/>
          <a:ln/>
        </p:spPr>
        <p:txBody>
          <a:bodyPr wrap="square" lIns="0" tIns="0" rIns="0" bIns="0" rtlCol="0" anchor="ctr"/>
          <a:lstStyle/>
          <a:p>
            <a:pPr marL="0" indent="0" algn="ctr">
              <a:buNone/>
            </a:pPr>
            <a:r>
              <a:rPr lang="en-US" sz="1280" b="1" dirty="0">
                <a:solidFill>
                  <a:srgbClr val="F59E0B"/>
                </a:solidFill>
                <a:latin typeface="Aptos" pitchFamily="34" charset="0"/>
                <a:ea typeface="Aptos" pitchFamily="34" charset="-122"/>
                <a:cs typeface="Aptos" pitchFamily="34" charset="-120"/>
              </a:rPr>
              <a:t>Module 5</a:t>
            </a:r>
            <a:endParaRPr lang="en-US" sz="1280" dirty="0"/>
          </a:p>
        </p:txBody>
      </p:sp>
      <p:sp>
        <p:nvSpPr>
          <p:cNvPr id="17" name="Text 15"/>
          <p:cNvSpPr/>
          <p:nvPr/>
        </p:nvSpPr>
        <p:spPr>
          <a:xfrm>
            <a:off x="4389120" y="3611880"/>
            <a:ext cx="1645920" cy="1234440"/>
          </a:xfrm>
          <a:prstGeom prst="rect">
            <a:avLst/>
          </a:prstGeom>
          <a:noFill/>
          <a:ln/>
        </p:spPr>
        <p:txBody>
          <a:bodyPr wrap="square" lIns="254" tIns="254" rIns="254" bIns="254" rtlCol="0" anchor="t"/>
          <a:lstStyle/>
          <a:p>
            <a:pPr marL="0" indent="0" algn="ctr">
              <a:buNone/>
            </a:pPr>
            <a:r>
              <a:rPr lang="en-US" sz="1220" dirty="0">
                <a:solidFill>
                  <a:srgbClr val="334155"/>
                </a:solidFill>
                <a:latin typeface="Aptos" pitchFamily="34" charset="0"/>
                <a:ea typeface="Aptos" pitchFamily="34" charset="-122"/>
                <a:cs typeface="Aptos" pitchFamily="34" charset="-120"/>
              </a:rPr>
              <a:t>The Product Owner shifted the content focus to detox and wellness travel.</a:t>
            </a:r>
            <a:endParaRPr lang="en-US" sz="1220" dirty="0"/>
          </a:p>
        </p:txBody>
      </p:sp>
      <p:sp>
        <p:nvSpPr>
          <p:cNvPr id="18" name="Shape 16"/>
          <p:cNvSpPr/>
          <p:nvPr/>
        </p:nvSpPr>
        <p:spPr>
          <a:xfrm>
            <a:off x="7086600" y="1755648"/>
            <a:ext cx="4407408" cy="4069080"/>
          </a:xfrm>
          <a:prstGeom prst="roundRect">
            <a:avLst>
              <a:gd name="adj" fmla="val 1124"/>
            </a:avLst>
          </a:prstGeom>
          <a:solidFill>
            <a:srgbClr val="FFFFFF"/>
          </a:solidFill>
          <a:ln w="17780">
            <a:solidFill>
              <a:srgbClr val="2563EB"/>
            </a:solidFill>
            <a:prstDash val="solid"/>
          </a:ln>
        </p:spPr>
        <p:txBody>
          <a:bodyPr/>
          <a:lstStyle/>
          <a:p>
            <a:endParaRPr lang="en-US"/>
          </a:p>
        </p:txBody>
      </p:sp>
      <p:sp>
        <p:nvSpPr>
          <p:cNvPr id="19" name="Text 17"/>
          <p:cNvSpPr/>
          <p:nvPr/>
        </p:nvSpPr>
        <p:spPr>
          <a:xfrm>
            <a:off x="7333488" y="1975104"/>
            <a:ext cx="3886200" cy="237744"/>
          </a:xfrm>
          <a:prstGeom prst="rect">
            <a:avLst/>
          </a:prstGeom>
          <a:noFill/>
          <a:ln/>
        </p:spPr>
        <p:txBody>
          <a:bodyPr wrap="square" lIns="0" tIns="0" rIns="0" bIns="0" rtlCol="0" anchor="ctr"/>
          <a:lstStyle/>
          <a:p>
            <a:pPr marL="0" indent="0" algn="ctr">
              <a:buNone/>
            </a:pPr>
            <a:r>
              <a:rPr lang="en-US" sz="1800" b="1" dirty="0">
                <a:solidFill>
                  <a:srgbClr val="2563EB"/>
                </a:solidFill>
                <a:latin typeface="Aptos" pitchFamily="34" charset="0"/>
                <a:ea typeface="Aptos" pitchFamily="34" charset="-122"/>
                <a:cs typeface="Aptos" pitchFamily="34" charset="-120"/>
              </a:rPr>
              <a:t>Why Scrum helped</a:t>
            </a:r>
            <a:endParaRPr lang="en-US" sz="1800" dirty="0"/>
          </a:p>
        </p:txBody>
      </p:sp>
      <p:sp>
        <p:nvSpPr>
          <p:cNvPr id="20" name="Text 18"/>
          <p:cNvSpPr/>
          <p:nvPr/>
        </p:nvSpPr>
        <p:spPr>
          <a:xfrm>
            <a:off x="7315200" y="2514600"/>
            <a:ext cx="3703320" cy="2057400"/>
          </a:xfrm>
          <a:prstGeom prst="rect">
            <a:avLst/>
          </a:prstGeom>
          <a:noFill/>
          <a:ln/>
        </p:spPr>
        <p:txBody>
          <a:bodyPr wrap="square" lIns="508" tIns="508" rIns="508" bIns="508" rtlCol="0" anchor="t"/>
          <a:lstStyle/>
          <a:p>
            <a:pPr marL="177800" indent="-177800">
              <a:buSzPct val="100000"/>
              <a:buChar char="•"/>
            </a:pPr>
            <a:r>
              <a:rPr lang="en-US" sz="1400" dirty="0">
                <a:solidFill>
                  <a:srgbClr val="334155"/>
                </a:solidFill>
                <a:latin typeface="Aptos" pitchFamily="34" charset="0"/>
                <a:ea typeface="Aptos" pitchFamily="34" charset="-122"/>
                <a:cs typeface="Aptos" pitchFamily="34" charset="-120"/>
              </a:rPr>
              <a:t>The team reused existing work instead of starting over.</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The backlog could be reordered around the new market focus.</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The same five-week MVP timeline stayed in place.</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Short cycles made the scope shift visible and manageable.</a:t>
            </a:r>
            <a:endParaRPr lang="en-US" sz="1400" dirty="0"/>
          </a:p>
        </p:txBody>
      </p:sp>
      <p:sp>
        <p:nvSpPr>
          <p:cNvPr id="21" name="Shape 19"/>
          <p:cNvSpPr/>
          <p:nvPr/>
        </p:nvSpPr>
        <p:spPr>
          <a:xfrm>
            <a:off x="7342632" y="4965192"/>
            <a:ext cx="3858768" cy="548640"/>
          </a:xfrm>
          <a:prstGeom prst="roundRect">
            <a:avLst>
              <a:gd name="adj" fmla="val 5000"/>
            </a:avLst>
          </a:prstGeom>
          <a:solidFill>
            <a:srgbClr val="F1F5F9"/>
          </a:solidFill>
          <a:ln w="12700">
            <a:solidFill>
              <a:srgbClr val="E2E8F0"/>
            </a:solidFill>
            <a:prstDash val="solid"/>
          </a:ln>
        </p:spPr>
        <p:txBody>
          <a:bodyPr/>
          <a:lstStyle/>
          <a:p>
            <a:endParaRPr lang="en-US"/>
          </a:p>
        </p:txBody>
      </p:sp>
      <p:sp>
        <p:nvSpPr>
          <p:cNvPr id="22" name="Text 20"/>
          <p:cNvSpPr/>
          <p:nvPr/>
        </p:nvSpPr>
        <p:spPr>
          <a:xfrm>
            <a:off x="7479792" y="5138928"/>
            <a:ext cx="3611880" cy="146304"/>
          </a:xfrm>
          <a:prstGeom prst="rect">
            <a:avLst/>
          </a:prstGeom>
          <a:noFill/>
          <a:ln/>
        </p:spPr>
        <p:txBody>
          <a:bodyPr wrap="square" lIns="0" tIns="0" rIns="0" bIns="0" rtlCol="0" anchor="ctr"/>
          <a:lstStyle/>
          <a:p>
            <a:pPr marL="0" indent="0" algn="ctr">
              <a:buNone/>
            </a:pPr>
            <a:r>
              <a:rPr lang="en-US" sz="1240" b="1" dirty="0">
                <a:latin typeface="Aptos" pitchFamily="34" charset="0"/>
                <a:ea typeface="Aptos" pitchFamily="34" charset="-122"/>
                <a:cs typeface="Aptos" pitchFamily="34" charset="-120"/>
              </a:rPr>
              <a:t>Key lesson: reprioritization was easier than rework.</a:t>
            </a:r>
            <a:endParaRPr lang="en-US" sz="1240" dirty="0"/>
          </a:p>
        </p:txBody>
      </p:sp>
      <p:sp>
        <p:nvSpPr>
          <p:cNvPr id="23" name="Text 21"/>
          <p:cNvSpPr/>
          <p:nvPr/>
        </p:nvSpPr>
        <p:spPr>
          <a:xfrm>
            <a:off x="530352" y="6583680"/>
            <a:ext cx="10515600" cy="146304"/>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Aptos" pitchFamily="34" charset="0"/>
                <a:ea typeface="Aptos" pitchFamily="34" charset="-122"/>
                <a:cs typeface="Aptos" pitchFamily="34" charset="-120"/>
              </a:rPr>
              <a:t>(Schwaber &amp; Sutherland, 2020; SNHU, n.d.-a; SNHU, n.d.-b)</a:t>
            </a:r>
            <a:endParaRPr lang="en-US" sz="850" dirty="0"/>
          </a:p>
        </p:txBody>
      </p:sp>
      <p:sp>
        <p:nvSpPr>
          <p:cNvPr id="25" name="Slide Number Placeholder 0"/>
          <p:cNvSpPr>
            <a:spLocks noGrp="1"/>
          </p:cNvSpPr>
          <p:nvPr>
            <p:ph type="sldNum" sz="quarter" idx="4294967295"/>
          </p:nvPr>
        </p:nvSpPr>
        <p:spPr>
          <a:xfrm>
            <a:off x="11658600" y="6583680"/>
            <a:ext cx="320040" cy="137160"/>
          </a:xfrm>
          <a:prstGeom prst="rect">
            <a:avLst/>
          </a:prstGeom>
          <a:extLst>
            <a:ext uri="{C572A759-6A51-4108-AA02-DFA0A04FC94B}">
              <ma14:wrappingTextBoxFlag xmlns:ma14="http://schemas.microsoft.com/office/mac/drawingml/2011/main" xmlns="" val="0"/>
            </a:ext>
          </a:extLst>
        </p:spPr>
        <p:txBody>
          <a:bodyPr/>
          <a:lstStyle>
            <a:lvl1pPr>
              <a:defRPr sz="900">
                <a:solidFill>
                  <a:srgbClr val="475569"/>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694944"/>
            <a:ext cx="8046720" cy="38404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How Waterfall Would Have Changed the Project</a:t>
            </a:r>
            <a:endParaRPr lang="en-US" sz="2400" dirty="0"/>
          </a:p>
        </p:txBody>
      </p:sp>
      <p:sp>
        <p:nvSpPr>
          <p:cNvPr id="3" name="Text 1"/>
          <p:cNvSpPr/>
          <p:nvPr/>
        </p:nvSpPr>
        <p:spPr>
          <a:xfrm>
            <a:off x="548640" y="1243584"/>
            <a:ext cx="9875520" cy="219456"/>
          </a:xfrm>
          <a:prstGeom prst="rect">
            <a:avLst/>
          </a:prstGeom>
          <a:noFill/>
          <a:ln/>
        </p:spPr>
        <p:txBody>
          <a:bodyPr wrap="square" lIns="0" tIns="0" rIns="0" bIns="0" rtlCol="0" anchor="ctr"/>
          <a:lstStyle/>
          <a:p>
            <a:pPr marL="0" indent="0">
              <a:buNone/>
            </a:pPr>
            <a:r>
              <a:rPr lang="en-US" sz="1150" dirty="0">
                <a:solidFill>
                  <a:srgbClr val="64748B"/>
                </a:solidFill>
                <a:latin typeface="Aptos" pitchFamily="34" charset="0"/>
                <a:ea typeface="Aptos" pitchFamily="34" charset="-122"/>
                <a:cs typeface="Aptos" pitchFamily="34" charset="-120"/>
              </a:rPr>
              <a:t>The biggest difference is how each approach handles late change.</a:t>
            </a:r>
            <a:endParaRPr lang="en-US" sz="1150" dirty="0"/>
          </a:p>
        </p:txBody>
      </p:sp>
      <p:sp>
        <p:nvSpPr>
          <p:cNvPr id="4" name="Shape 2"/>
          <p:cNvSpPr/>
          <p:nvPr/>
        </p:nvSpPr>
        <p:spPr>
          <a:xfrm>
            <a:off x="548640" y="1572768"/>
            <a:ext cx="11064240" cy="0"/>
          </a:xfrm>
          <a:prstGeom prst="line">
            <a:avLst/>
          </a:prstGeom>
          <a:noFill/>
          <a:ln w="15240">
            <a:solidFill>
              <a:srgbClr val="CBD5E1"/>
            </a:solidFill>
            <a:prstDash val="solid"/>
          </a:ln>
        </p:spPr>
        <p:txBody>
          <a:bodyPr/>
          <a:lstStyle/>
          <a:p>
            <a:endParaRPr lang="en-US"/>
          </a:p>
        </p:txBody>
      </p:sp>
      <p:sp>
        <p:nvSpPr>
          <p:cNvPr id="5" name="Shape 3"/>
          <p:cNvSpPr/>
          <p:nvPr/>
        </p:nvSpPr>
        <p:spPr>
          <a:xfrm>
            <a:off x="658368" y="1783080"/>
            <a:ext cx="5193792" cy="3840480"/>
          </a:xfrm>
          <a:prstGeom prst="roundRect">
            <a:avLst>
              <a:gd name="adj" fmla="val 1190"/>
            </a:avLst>
          </a:prstGeom>
          <a:solidFill>
            <a:srgbClr val="FFFFFF"/>
          </a:solidFill>
          <a:ln w="17780">
            <a:solidFill>
              <a:srgbClr val="DC2626"/>
            </a:solidFill>
            <a:prstDash val="solid"/>
          </a:ln>
        </p:spPr>
        <p:txBody>
          <a:bodyPr/>
          <a:lstStyle/>
          <a:p>
            <a:endParaRPr lang="en-US"/>
          </a:p>
        </p:txBody>
      </p:sp>
      <p:sp>
        <p:nvSpPr>
          <p:cNvPr id="6" name="Shape 4"/>
          <p:cNvSpPr/>
          <p:nvPr/>
        </p:nvSpPr>
        <p:spPr>
          <a:xfrm>
            <a:off x="822960" y="1947672"/>
            <a:ext cx="4864608" cy="493776"/>
          </a:xfrm>
          <a:prstGeom prst="roundRect">
            <a:avLst>
              <a:gd name="adj" fmla="val 5556"/>
            </a:avLst>
          </a:prstGeom>
          <a:solidFill>
            <a:srgbClr val="FEE2E2"/>
          </a:solidFill>
          <a:ln w="12700">
            <a:solidFill>
              <a:srgbClr val="FEE2E2">
                <a:alpha val="0"/>
              </a:srgbClr>
            </a:solidFill>
            <a:prstDash val="solid"/>
          </a:ln>
        </p:spPr>
        <p:txBody>
          <a:bodyPr/>
          <a:lstStyle/>
          <a:p>
            <a:endParaRPr lang="en-US"/>
          </a:p>
        </p:txBody>
      </p:sp>
      <p:sp>
        <p:nvSpPr>
          <p:cNvPr id="7" name="Text 5"/>
          <p:cNvSpPr/>
          <p:nvPr/>
        </p:nvSpPr>
        <p:spPr>
          <a:xfrm>
            <a:off x="886968" y="2093976"/>
            <a:ext cx="4736592" cy="164592"/>
          </a:xfrm>
          <a:prstGeom prst="rect">
            <a:avLst/>
          </a:prstGeom>
          <a:noFill/>
          <a:ln/>
        </p:spPr>
        <p:txBody>
          <a:bodyPr wrap="square" lIns="0" tIns="0" rIns="0" bIns="0" rtlCol="0" anchor="ctr"/>
          <a:lstStyle/>
          <a:p>
            <a:pPr marL="0" indent="0" algn="ctr">
              <a:buNone/>
            </a:pPr>
            <a:r>
              <a:rPr lang="en-US" sz="1600" b="1" dirty="0">
                <a:solidFill>
                  <a:srgbClr val="DC2626"/>
                </a:solidFill>
                <a:latin typeface="Aptos" pitchFamily="34" charset="0"/>
                <a:ea typeface="Aptos" pitchFamily="34" charset="-122"/>
                <a:cs typeface="Aptos" pitchFamily="34" charset="-120"/>
              </a:rPr>
              <a:t>If the team used Waterfall</a:t>
            </a:r>
            <a:endParaRPr lang="en-US" sz="1600" dirty="0"/>
          </a:p>
        </p:txBody>
      </p:sp>
      <p:sp>
        <p:nvSpPr>
          <p:cNvPr id="8" name="Shape 6"/>
          <p:cNvSpPr/>
          <p:nvPr/>
        </p:nvSpPr>
        <p:spPr>
          <a:xfrm>
            <a:off x="6336792" y="1783080"/>
            <a:ext cx="5193792" cy="3840480"/>
          </a:xfrm>
          <a:prstGeom prst="roundRect">
            <a:avLst>
              <a:gd name="adj" fmla="val 1190"/>
            </a:avLst>
          </a:prstGeom>
          <a:solidFill>
            <a:srgbClr val="FFFFFF"/>
          </a:solidFill>
          <a:ln w="17780">
            <a:solidFill>
              <a:srgbClr val="059669"/>
            </a:solidFill>
            <a:prstDash val="solid"/>
          </a:ln>
        </p:spPr>
        <p:txBody>
          <a:bodyPr/>
          <a:lstStyle/>
          <a:p>
            <a:endParaRPr lang="en-US"/>
          </a:p>
        </p:txBody>
      </p:sp>
      <p:sp>
        <p:nvSpPr>
          <p:cNvPr id="9" name="Shape 7"/>
          <p:cNvSpPr/>
          <p:nvPr/>
        </p:nvSpPr>
        <p:spPr>
          <a:xfrm>
            <a:off x="6501384" y="1947672"/>
            <a:ext cx="4864608" cy="493776"/>
          </a:xfrm>
          <a:prstGeom prst="roundRect">
            <a:avLst>
              <a:gd name="adj" fmla="val 5556"/>
            </a:avLst>
          </a:prstGeom>
          <a:solidFill>
            <a:srgbClr val="D1FAE5"/>
          </a:solidFill>
          <a:ln w="12700">
            <a:solidFill>
              <a:srgbClr val="D1FAE5">
                <a:alpha val="0"/>
              </a:srgbClr>
            </a:solidFill>
            <a:prstDash val="solid"/>
          </a:ln>
        </p:spPr>
        <p:txBody>
          <a:bodyPr/>
          <a:lstStyle/>
          <a:p>
            <a:endParaRPr lang="en-US"/>
          </a:p>
        </p:txBody>
      </p:sp>
      <p:sp>
        <p:nvSpPr>
          <p:cNvPr id="10" name="Text 8"/>
          <p:cNvSpPr/>
          <p:nvPr/>
        </p:nvSpPr>
        <p:spPr>
          <a:xfrm>
            <a:off x="6565392" y="2093976"/>
            <a:ext cx="4736592" cy="164592"/>
          </a:xfrm>
          <a:prstGeom prst="rect">
            <a:avLst/>
          </a:prstGeom>
          <a:noFill/>
          <a:ln/>
        </p:spPr>
        <p:txBody>
          <a:bodyPr wrap="square" lIns="0" tIns="0" rIns="0" bIns="0" rtlCol="0" anchor="ctr"/>
          <a:lstStyle/>
          <a:p>
            <a:pPr marL="0" indent="0" algn="ctr">
              <a:buNone/>
            </a:pPr>
            <a:r>
              <a:rPr lang="en-US" sz="1600" b="1" dirty="0">
                <a:solidFill>
                  <a:srgbClr val="059669"/>
                </a:solidFill>
                <a:latin typeface="Aptos" pitchFamily="34" charset="0"/>
                <a:ea typeface="Aptos" pitchFamily="34" charset="-122"/>
                <a:cs typeface="Aptos" pitchFamily="34" charset="-120"/>
              </a:rPr>
              <a:t>What Scrum-Agile allowed instead</a:t>
            </a:r>
            <a:endParaRPr lang="en-US" sz="1600" dirty="0"/>
          </a:p>
        </p:txBody>
      </p:sp>
      <p:sp>
        <p:nvSpPr>
          <p:cNvPr id="11" name="Text 9"/>
          <p:cNvSpPr/>
          <p:nvPr/>
        </p:nvSpPr>
        <p:spPr>
          <a:xfrm>
            <a:off x="896112" y="2697480"/>
            <a:ext cx="4617720" cy="2240280"/>
          </a:xfrm>
          <a:prstGeom prst="rect">
            <a:avLst/>
          </a:prstGeom>
          <a:noFill/>
          <a:ln/>
        </p:spPr>
        <p:txBody>
          <a:bodyPr wrap="square" lIns="508" tIns="508" rIns="508" bIns="508" rtlCol="0" anchor="t"/>
          <a:lstStyle/>
          <a:p>
            <a:pPr marL="177800" indent="-177800">
              <a:buSzPct val="100000"/>
              <a:buChar char="•"/>
            </a:pPr>
            <a:r>
              <a:rPr lang="en-US" sz="1400" dirty="0">
                <a:solidFill>
                  <a:srgbClr val="334155"/>
                </a:solidFill>
                <a:latin typeface="Aptos" pitchFamily="34" charset="0"/>
                <a:ea typeface="Aptos" pitchFamily="34" charset="-122"/>
                <a:cs typeface="Aptos" pitchFamily="34" charset="-120"/>
              </a:rPr>
              <a:t>More requirements would be fixed earlier.</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Testing would likely come later in the process.</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A wellness pivot would create more rework and delay risk.</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Progress could look good on paper while user value slipped.</a:t>
            </a:r>
            <a:endParaRPr lang="en-US" sz="1400" dirty="0"/>
          </a:p>
        </p:txBody>
      </p:sp>
      <p:sp>
        <p:nvSpPr>
          <p:cNvPr id="12" name="Text 10"/>
          <p:cNvSpPr/>
          <p:nvPr/>
        </p:nvSpPr>
        <p:spPr>
          <a:xfrm>
            <a:off x="6565392" y="2697480"/>
            <a:ext cx="4617720" cy="2240280"/>
          </a:xfrm>
          <a:prstGeom prst="rect">
            <a:avLst/>
          </a:prstGeom>
          <a:noFill/>
          <a:ln/>
        </p:spPr>
        <p:txBody>
          <a:bodyPr wrap="square" lIns="508" tIns="508" rIns="508" bIns="508" rtlCol="0" anchor="t"/>
          <a:lstStyle/>
          <a:p>
            <a:pPr marL="177800" indent="-177800">
              <a:buSzPct val="100000"/>
              <a:buChar char="•"/>
            </a:pPr>
            <a:r>
              <a:rPr lang="en-US" sz="1400" dirty="0">
                <a:solidFill>
                  <a:srgbClr val="334155"/>
                </a:solidFill>
                <a:latin typeface="Aptos" pitchFamily="34" charset="0"/>
                <a:ea typeface="Aptos" pitchFamily="34" charset="-122"/>
                <a:cs typeface="Aptos" pitchFamily="34" charset="-120"/>
              </a:rPr>
              <a:t>The backlog stayed open to reprioritization.</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Development and testing stayed inside short cycles.</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The team could reuse the structure it had already built.</a:t>
            </a:r>
            <a:endParaRPr lang="en-US" sz="1400" dirty="0"/>
          </a:p>
          <a:p>
            <a:pPr marL="177800" indent="-177800">
              <a:buSzPct val="100000"/>
              <a:buChar char="•"/>
            </a:pPr>
            <a:r>
              <a:rPr lang="en-US" sz="1400" dirty="0">
                <a:solidFill>
                  <a:srgbClr val="334155"/>
                </a:solidFill>
                <a:latin typeface="Aptos" pitchFamily="34" charset="0"/>
                <a:ea typeface="Aptos" pitchFamily="34" charset="-122"/>
                <a:cs typeface="Aptos" pitchFamily="34" charset="-120"/>
              </a:rPr>
              <a:t>Progress was tied to smaller finished increments.</a:t>
            </a:r>
            <a:endParaRPr lang="en-US" sz="1400" dirty="0"/>
          </a:p>
        </p:txBody>
      </p:sp>
      <p:sp>
        <p:nvSpPr>
          <p:cNvPr id="13" name="Shape 11"/>
          <p:cNvSpPr/>
          <p:nvPr/>
        </p:nvSpPr>
        <p:spPr>
          <a:xfrm>
            <a:off x="1143000" y="5705856"/>
            <a:ext cx="9893808" cy="384048"/>
          </a:xfrm>
          <a:prstGeom prst="roundRect">
            <a:avLst>
              <a:gd name="adj" fmla="val 7143"/>
            </a:avLst>
          </a:prstGeom>
          <a:solidFill>
            <a:srgbClr val="F1F5F9"/>
          </a:solidFill>
          <a:ln w="12700">
            <a:solidFill>
              <a:srgbClr val="E2E8F0"/>
            </a:solidFill>
            <a:prstDash val="solid"/>
          </a:ln>
        </p:spPr>
        <p:txBody>
          <a:bodyPr/>
          <a:lstStyle/>
          <a:p>
            <a:endParaRPr lang="en-US"/>
          </a:p>
        </p:txBody>
      </p:sp>
      <p:sp>
        <p:nvSpPr>
          <p:cNvPr id="14" name="Text 12"/>
          <p:cNvSpPr/>
          <p:nvPr/>
        </p:nvSpPr>
        <p:spPr>
          <a:xfrm>
            <a:off x="1335024" y="5806440"/>
            <a:ext cx="9509760" cy="128016"/>
          </a:xfrm>
          <a:prstGeom prst="rect">
            <a:avLst/>
          </a:prstGeom>
          <a:noFill/>
          <a:ln/>
        </p:spPr>
        <p:txBody>
          <a:bodyPr wrap="square" lIns="0" tIns="0" rIns="0" bIns="0" rtlCol="0" anchor="ctr"/>
          <a:lstStyle/>
          <a:p>
            <a:pPr marL="0" indent="0" algn="ctr">
              <a:buNone/>
            </a:pPr>
            <a:r>
              <a:rPr lang="en-US" sz="1230" dirty="0">
                <a:latin typeface="Aptos" pitchFamily="34" charset="0"/>
                <a:ea typeface="Aptos" pitchFamily="34" charset="-122"/>
                <a:cs typeface="Aptos" pitchFamily="34" charset="-120"/>
              </a:rPr>
              <a:t>Vision Quest warned about an “illusion of progress” when teams started a lot of work but finished very little. Scrum reduced that risk by making priorities and completion visible.</a:t>
            </a:r>
            <a:endParaRPr lang="en-US" sz="1230" dirty="0"/>
          </a:p>
        </p:txBody>
      </p:sp>
      <p:sp>
        <p:nvSpPr>
          <p:cNvPr id="15" name="Text 13"/>
          <p:cNvSpPr/>
          <p:nvPr/>
        </p:nvSpPr>
        <p:spPr>
          <a:xfrm>
            <a:off x="530352" y="6583680"/>
            <a:ext cx="10515600" cy="146304"/>
          </a:xfrm>
          <a:prstGeom prst="rect">
            <a:avLst/>
          </a:prstGeom>
          <a:noFill/>
          <a:ln/>
        </p:spPr>
        <p:txBody>
          <a:bodyPr wrap="square" lIns="0" tIns="0" rIns="0" bIns="0" rtlCol="0" anchor="ctr">
            <a:normAutofit/>
          </a:bodyPr>
          <a:lstStyle/>
          <a:p>
            <a:r>
              <a:rPr lang="en-US" sz="850" i="1" dirty="0">
                <a:solidFill>
                  <a:srgbClr val="64748B"/>
                </a:solidFill>
                <a:latin typeface="Aptos" pitchFamily="34" charset="0"/>
                <a:ea typeface="Aptos" pitchFamily="34" charset="-122"/>
                <a:cs typeface="Aptos" pitchFamily="34" charset="-120"/>
              </a:rPr>
              <a:t>(Iqbal, 2021; SNHU, n.d.-c)</a:t>
            </a:r>
            <a:endParaRPr lang="en-US" sz="850" dirty="0"/>
          </a:p>
        </p:txBody>
      </p:sp>
      <p:sp>
        <p:nvSpPr>
          <p:cNvPr id="25" name="Slide Number Placeholder 0"/>
          <p:cNvSpPr>
            <a:spLocks noGrp="1"/>
          </p:cNvSpPr>
          <p:nvPr>
            <p:ph type="sldNum" sz="quarter" idx="4294967295"/>
          </p:nvPr>
        </p:nvSpPr>
        <p:spPr>
          <a:xfrm>
            <a:off x="11658600" y="6583680"/>
            <a:ext cx="320040" cy="137160"/>
          </a:xfrm>
          <a:prstGeom prst="rect">
            <a:avLst/>
          </a:prstGeom>
          <a:extLst>
            <a:ext uri="{C572A759-6A51-4108-AA02-DFA0A04FC94B}">
              <ma14:wrappingTextBoxFlag xmlns:ma14="http://schemas.microsoft.com/office/mac/drawingml/2011/main" xmlns="" val="0"/>
            </a:ext>
          </a:extLst>
        </p:spPr>
        <p:txBody>
          <a:bodyPr/>
          <a:lstStyle>
            <a:lvl1pPr>
              <a:defRPr sz="900">
                <a:solidFill>
                  <a:srgbClr val="475569"/>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1" name="Shape 15">
            <a:extLst>
              <a:ext uri="{FF2B5EF4-FFF2-40B4-BE49-F238E27FC236}">
                <a16:creationId xmlns:a16="http://schemas.microsoft.com/office/drawing/2014/main" id="{3C69CF17-A0BE-8677-066F-D09F21205015}"/>
              </a:ext>
            </a:extLst>
          </p:cNvPr>
          <p:cNvSpPr/>
          <p:nvPr/>
        </p:nvSpPr>
        <p:spPr>
          <a:xfrm>
            <a:off x="1107440" y="5596132"/>
            <a:ext cx="9938512" cy="493768"/>
          </a:xfrm>
          <a:prstGeom prst="roundRect">
            <a:avLst>
              <a:gd name="adj" fmla="val 4348"/>
            </a:avLst>
          </a:prstGeom>
          <a:solidFill>
            <a:srgbClr val="F1F5F9"/>
          </a:solidFill>
          <a:ln w="12700">
            <a:solidFill>
              <a:srgbClr val="E2E8F0"/>
            </a:solidFill>
            <a:prstDash val="solid"/>
          </a:ln>
        </p:spPr>
        <p:txBody>
          <a:bodyPr/>
          <a:lstStyle/>
          <a:p>
            <a:endParaRPr lang="en-US"/>
          </a:p>
        </p:txBody>
      </p:sp>
      <p:sp>
        <p:nvSpPr>
          <p:cNvPr id="2" name="Text 0"/>
          <p:cNvSpPr/>
          <p:nvPr/>
        </p:nvSpPr>
        <p:spPr>
          <a:xfrm>
            <a:off x="548640" y="694944"/>
            <a:ext cx="8046720" cy="38404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When to Choose Agile, Waterfall, or a Hybrid Approach</a:t>
            </a:r>
            <a:endParaRPr lang="en-US" sz="2400" dirty="0"/>
          </a:p>
        </p:txBody>
      </p:sp>
      <p:sp>
        <p:nvSpPr>
          <p:cNvPr id="3" name="Text 1"/>
          <p:cNvSpPr/>
          <p:nvPr/>
        </p:nvSpPr>
        <p:spPr>
          <a:xfrm>
            <a:off x="548640" y="1243584"/>
            <a:ext cx="9875520" cy="219456"/>
          </a:xfrm>
          <a:prstGeom prst="rect">
            <a:avLst/>
          </a:prstGeom>
          <a:noFill/>
          <a:ln/>
        </p:spPr>
        <p:txBody>
          <a:bodyPr wrap="square" lIns="0" tIns="0" rIns="0" bIns="0" rtlCol="0" anchor="ctr"/>
          <a:lstStyle/>
          <a:p>
            <a:pPr marL="0" indent="0">
              <a:buNone/>
            </a:pPr>
            <a:r>
              <a:rPr lang="en-US" sz="1150" dirty="0">
                <a:solidFill>
                  <a:srgbClr val="64748B"/>
                </a:solidFill>
                <a:latin typeface="Aptos" pitchFamily="34" charset="0"/>
                <a:ea typeface="Aptos" pitchFamily="34" charset="-122"/>
                <a:cs typeface="Aptos" pitchFamily="34" charset="-120"/>
              </a:rPr>
              <a:t>Leadership should match the method to the project, not force one method onto everything.</a:t>
            </a:r>
            <a:endParaRPr lang="en-US" sz="1150" dirty="0"/>
          </a:p>
        </p:txBody>
      </p:sp>
      <p:sp>
        <p:nvSpPr>
          <p:cNvPr id="4" name="Shape 2"/>
          <p:cNvSpPr/>
          <p:nvPr/>
        </p:nvSpPr>
        <p:spPr>
          <a:xfrm>
            <a:off x="548640" y="1572768"/>
            <a:ext cx="11064240" cy="0"/>
          </a:xfrm>
          <a:prstGeom prst="line">
            <a:avLst/>
          </a:prstGeom>
          <a:noFill/>
          <a:ln w="15240">
            <a:solidFill>
              <a:srgbClr val="CBD5E1"/>
            </a:solidFill>
            <a:prstDash val="solid"/>
          </a:ln>
        </p:spPr>
        <p:txBody>
          <a:bodyPr/>
          <a:lstStyle/>
          <a:p>
            <a:endParaRPr lang="en-US"/>
          </a:p>
        </p:txBody>
      </p:sp>
      <p:sp>
        <p:nvSpPr>
          <p:cNvPr id="5" name="Shape 3"/>
          <p:cNvSpPr/>
          <p:nvPr/>
        </p:nvSpPr>
        <p:spPr>
          <a:xfrm>
            <a:off x="685800" y="1874520"/>
            <a:ext cx="3566160" cy="3611880"/>
          </a:xfrm>
          <a:prstGeom prst="roundRect">
            <a:avLst>
              <a:gd name="adj" fmla="val 1282"/>
            </a:avLst>
          </a:prstGeom>
          <a:solidFill>
            <a:srgbClr val="FFFFFF"/>
          </a:solidFill>
          <a:ln w="17780">
            <a:solidFill>
              <a:srgbClr val="2563EB"/>
            </a:solidFill>
            <a:prstDash val="solid"/>
          </a:ln>
        </p:spPr>
        <p:txBody>
          <a:bodyPr/>
          <a:lstStyle/>
          <a:p>
            <a:endParaRPr lang="en-US"/>
          </a:p>
        </p:txBody>
      </p:sp>
      <p:sp>
        <p:nvSpPr>
          <p:cNvPr id="6" name="Shape 4"/>
          <p:cNvSpPr/>
          <p:nvPr/>
        </p:nvSpPr>
        <p:spPr>
          <a:xfrm>
            <a:off x="832104" y="2020824"/>
            <a:ext cx="3273552" cy="493776"/>
          </a:xfrm>
          <a:prstGeom prst="roundRect">
            <a:avLst>
              <a:gd name="adj" fmla="val 5556"/>
            </a:avLst>
          </a:prstGeom>
          <a:solidFill>
            <a:srgbClr val="DBEAFE"/>
          </a:solidFill>
          <a:ln w="12700">
            <a:solidFill>
              <a:srgbClr val="DBEAFE">
                <a:alpha val="0"/>
              </a:srgbClr>
            </a:solidFill>
            <a:prstDash val="solid"/>
          </a:ln>
        </p:spPr>
        <p:txBody>
          <a:bodyPr/>
          <a:lstStyle/>
          <a:p>
            <a:endParaRPr lang="en-US"/>
          </a:p>
        </p:txBody>
      </p:sp>
      <p:sp>
        <p:nvSpPr>
          <p:cNvPr id="7" name="Text 5"/>
          <p:cNvSpPr/>
          <p:nvPr/>
        </p:nvSpPr>
        <p:spPr>
          <a:xfrm>
            <a:off x="905256" y="2167128"/>
            <a:ext cx="3127248" cy="164592"/>
          </a:xfrm>
          <a:prstGeom prst="rect">
            <a:avLst/>
          </a:prstGeom>
          <a:noFill/>
          <a:ln/>
        </p:spPr>
        <p:txBody>
          <a:bodyPr wrap="square" lIns="0" tIns="0" rIns="0" bIns="0" rtlCol="0" anchor="ctr"/>
          <a:lstStyle/>
          <a:p>
            <a:pPr marL="0" indent="0" algn="ctr">
              <a:buNone/>
            </a:pPr>
            <a:r>
              <a:rPr lang="en-US" sz="1550" b="1" dirty="0">
                <a:solidFill>
                  <a:srgbClr val="2563EB"/>
                </a:solidFill>
                <a:latin typeface="Aptos" pitchFamily="34" charset="0"/>
                <a:ea typeface="Aptos" pitchFamily="34" charset="-122"/>
                <a:cs typeface="Aptos" pitchFamily="34" charset="-120"/>
              </a:rPr>
              <a:t>Use Agile when...</a:t>
            </a:r>
            <a:endParaRPr lang="en-US" sz="1550" dirty="0"/>
          </a:p>
        </p:txBody>
      </p:sp>
      <p:sp>
        <p:nvSpPr>
          <p:cNvPr id="8" name="Text 6"/>
          <p:cNvSpPr/>
          <p:nvPr/>
        </p:nvSpPr>
        <p:spPr>
          <a:xfrm>
            <a:off x="886968" y="2743200"/>
            <a:ext cx="3163824" cy="2057400"/>
          </a:xfrm>
          <a:prstGeom prst="rect">
            <a:avLst/>
          </a:prstGeom>
          <a:noFill/>
          <a:ln/>
        </p:spPr>
        <p:txBody>
          <a:bodyPr wrap="square" lIns="508" tIns="508" rIns="508" bIns="508" rtlCol="0" anchor="t"/>
          <a:lstStyle/>
          <a:p>
            <a:pPr marL="177800" indent="-177800">
              <a:buSzPct val="100000"/>
              <a:buChar char="•"/>
            </a:pPr>
            <a:r>
              <a:rPr lang="en-US" sz="1360" dirty="0">
                <a:solidFill>
                  <a:srgbClr val="334155"/>
                </a:solidFill>
                <a:latin typeface="Aptos" pitchFamily="34" charset="0"/>
                <a:ea typeface="Aptos" pitchFamily="34" charset="-122"/>
                <a:cs typeface="Aptos" pitchFamily="34" charset="-120"/>
              </a:rPr>
              <a:t>Requirements may change</a:t>
            </a:r>
            <a:endParaRPr lang="en-US" sz="1360" dirty="0"/>
          </a:p>
          <a:p>
            <a:pPr marL="177800" indent="-177800">
              <a:buSzPct val="100000"/>
              <a:buChar char="•"/>
            </a:pPr>
            <a:r>
              <a:rPr lang="en-US" sz="1360" dirty="0">
                <a:solidFill>
                  <a:srgbClr val="334155"/>
                </a:solidFill>
                <a:latin typeface="Aptos" pitchFamily="34" charset="0"/>
                <a:ea typeface="Aptos" pitchFamily="34" charset="-122"/>
                <a:cs typeface="Aptos" pitchFamily="34" charset="-120"/>
              </a:rPr>
              <a:t>Customer feedback matters a lot</a:t>
            </a:r>
            <a:endParaRPr lang="en-US" sz="1360" dirty="0"/>
          </a:p>
          <a:p>
            <a:pPr marL="177800" indent="-177800">
              <a:buSzPct val="100000"/>
              <a:buChar char="•"/>
            </a:pPr>
            <a:r>
              <a:rPr lang="en-US" sz="1360" dirty="0">
                <a:solidFill>
                  <a:srgbClr val="334155"/>
                </a:solidFill>
                <a:latin typeface="Aptos" pitchFamily="34" charset="0"/>
                <a:ea typeface="Aptos" pitchFamily="34" charset="-122"/>
                <a:cs typeface="Aptos" pitchFamily="34" charset="-120"/>
              </a:rPr>
              <a:t>An MVP is more useful than one big late release</a:t>
            </a:r>
            <a:endParaRPr lang="en-US" sz="1360" dirty="0"/>
          </a:p>
        </p:txBody>
      </p:sp>
      <p:sp>
        <p:nvSpPr>
          <p:cNvPr id="9" name="Shape 7"/>
          <p:cNvSpPr/>
          <p:nvPr/>
        </p:nvSpPr>
        <p:spPr>
          <a:xfrm>
            <a:off x="4315968" y="1874520"/>
            <a:ext cx="3566160" cy="3611880"/>
          </a:xfrm>
          <a:prstGeom prst="roundRect">
            <a:avLst>
              <a:gd name="adj" fmla="val 1282"/>
            </a:avLst>
          </a:prstGeom>
          <a:solidFill>
            <a:srgbClr val="FFFFFF"/>
          </a:solidFill>
          <a:ln w="17780">
            <a:solidFill>
              <a:srgbClr val="F59E0B"/>
            </a:solidFill>
            <a:prstDash val="solid"/>
          </a:ln>
        </p:spPr>
        <p:txBody>
          <a:bodyPr/>
          <a:lstStyle/>
          <a:p>
            <a:endParaRPr lang="en-US"/>
          </a:p>
        </p:txBody>
      </p:sp>
      <p:sp>
        <p:nvSpPr>
          <p:cNvPr id="10" name="Shape 8"/>
          <p:cNvSpPr/>
          <p:nvPr/>
        </p:nvSpPr>
        <p:spPr>
          <a:xfrm>
            <a:off x="4462272" y="2020824"/>
            <a:ext cx="3273552" cy="493776"/>
          </a:xfrm>
          <a:prstGeom prst="roundRect">
            <a:avLst>
              <a:gd name="adj" fmla="val 5556"/>
            </a:avLst>
          </a:prstGeom>
          <a:solidFill>
            <a:srgbClr val="FEF3C7"/>
          </a:solidFill>
          <a:ln w="12700">
            <a:solidFill>
              <a:srgbClr val="FEF3C7">
                <a:alpha val="0"/>
              </a:srgbClr>
            </a:solidFill>
            <a:prstDash val="solid"/>
          </a:ln>
        </p:spPr>
        <p:txBody>
          <a:bodyPr/>
          <a:lstStyle/>
          <a:p>
            <a:endParaRPr lang="en-US"/>
          </a:p>
        </p:txBody>
      </p:sp>
      <p:sp>
        <p:nvSpPr>
          <p:cNvPr id="11" name="Text 9"/>
          <p:cNvSpPr/>
          <p:nvPr/>
        </p:nvSpPr>
        <p:spPr>
          <a:xfrm>
            <a:off x="4535424" y="2167128"/>
            <a:ext cx="3127248" cy="164592"/>
          </a:xfrm>
          <a:prstGeom prst="rect">
            <a:avLst/>
          </a:prstGeom>
          <a:noFill/>
          <a:ln/>
        </p:spPr>
        <p:txBody>
          <a:bodyPr wrap="square" lIns="0" tIns="0" rIns="0" bIns="0" rtlCol="0" anchor="ctr"/>
          <a:lstStyle/>
          <a:p>
            <a:pPr marL="0" indent="0" algn="ctr">
              <a:buNone/>
            </a:pPr>
            <a:r>
              <a:rPr lang="en-US" sz="1550" b="1" dirty="0">
                <a:solidFill>
                  <a:srgbClr val="F59E0B"/>
                </a:solidFill>
                <a:latin typeface="Aptos" pitchFamily="34" charset="0"/>
                <a:ea typeface="Aptos" pitchFamily="34" charset="-122"/>
                <a:cs typeface="Aptos" pitchFamily="34" charset="-120"/>
              </a:rPr>
              <a:t>Use Waterfall when...</a:t>
            </a:r>
            <a:endParaRPr lang="en-US" sz="1550" dirty="0"/>
          </a:p>
        </p:txBody>
      </p:sp>
      <p:sp>
        <p:nvSpPr>
          <p:cNvPr id="12" name="Text 10"/>
          <p:cNvSpPr/>
          <p:nvPr/>
        </p:nvSpPr>
        <p:spPr>
          <a:xfrm>
            <a:off x="4517136" y="2743200"/>
            <a:ext cx="3163824" cy="2057400"/>
          </a:xfrm>
          <a:prstGeom prst="rect">
            <a:avLst/>
          </a:prstGeom>
          <a:noFill/>
          <a:ln/>
        </p:spPr>
        <p:txBody>
          <a:bodyPr wrap="square" lIns="508" tIns="508" rIns="508" bIns="508" rtlCol="0" anchor="t"/>
          <a:lstStyle/>
          <a:p>
            <a:pPr marL="177800" indent="-177800">
              <a:buSzPct val="100000"/>
              <a:buChar char="•"/>
            </a:pPr>
            <a:r>
              <a:rPr lang="en-US" sz="1360" dirty="0">
                <a:solidFill>
                  <a:srgbClr val="334155"/>
                </a:solidFill>
                <a:latin typeface="Aptos" pitchFamily="34" charset="0"/>
                <a:ea typeface="Aptos" pitchFamily="34" charset="-122"/>
                <a:cs typeface="Aptos" pitchFamily="34" charset="-120"/>
              </a:rPr>
              <a:t>Scope is stable and well-defined</a:t>
            </a:r>
            <a:endParaRPr lang="en-US" sz="1360" dirty="0"/>
          </a:p>
          <a:p>
            <a:pPr marL="177800" indent="-177800">
              <a:buSzPct val="100000"/>
              <a:buChar char="•"/>
            </a:pPr>
            <a:r>
              <a:rPr lang="en-US" sz="1360" dirty="0">
                <a:solidFill>
                  <a:srgbClr val="334155"/>
                </a:solidFill>
                <a:latin typeface="Aptos" pitchFamily="34" charset="0"/>
                <a:ea typeface="Aptos" pitchFamily="34" charset="-122"/>
                <a:cs typeface="Aptos" pitchFamily="34" charset="-120"/>
              </a:rPr>
              <a:t>Changes are costly or tightly controlled</a:t>
            </a:r>
            <a:endParaRPr lang="en-US" sz="1360" dirty="0"/>
          </a:p>
          <a:p>
            <a:pPr marL="177800" indent="-177800">
              <a:buSzPct val="100000"/>
              <a:buChar char="•"/>
            </a:pPr>
            <a:r>
              <a:rPr lang="en-US" sz="1360" dirty="0">
                <a:solidFill>
                  <a:srgbClr val="334155"/>
                </a:solidFill>
                <a:latin typeface="Aptos" pitchFamily="34" charset="0"/>
                <a:ea typeface="Aptos" pitchFamily="34" charset="-122"/>
                <a:cs typeface="Aptos" pitchFamily="34" charset="-120"/>
              </a:rPr>
              <a:t>Heavy approval gates matter more than flexibility</a:t>
            </a:r>
            <a:endParaRPr lang="en-US" sz="1360" dirty="0"/>
          </a:p>
        </p:txBody>
      </p:sp>
      <p:sp>
        <p:nvSpPr>
          <p:cNvPr id="13" name="Shape 11"/>
          <p:cNvSpPr/>
          <p:nvPr/>
        </p:nvSpPr>
        <p:spPr>
          <a:xfrm>
            <a:off x="7946136" y="1874520"/>
            <a:ext cx="3566160" cy="3611880"/>
          </a:xfrm>
          <a:prstGeom prst="roundRect">
            <a:avLst>
              <a:gd name="adj" fmla="val 1282"/>
            </a:avLst>
          </a:prstGeom>
          <a:solidFill>
            <a:srgbClr val="FFFFFF"/>
          </a:solidFill>
          <a:ln w="17780">
            <a:solidFill>
              <a:srgbClr val="0EA5A4"/>
            </a:solidFill>
            <a:prstDash val="solid"/>
          </a:ln>
        </p:spPr>
        <p:txBody>
          <a:bodyPr/>
          <a:lstStyle/>
          <a:p>
            <a:endParaRPr lang="en-US"/>
          </a:p>
        </p:txBody>
      </p:sp>
      <p:sp>
        <p:nvSpPr>
          <p:cNvPr id="14" name="Shape 12"/>
          <p:cNvSpPr/>
          <p:nvPr/>
        </p:nvSpPr>
        <p:spPr>
          <a:xfrm>
            <a:off x="8092440" y="2020824"/>
            <a:ext cx="3273552" cy="493776"/>
          </a:xfrm>
          <a:prstGeom prst="roundRect">
            <a:avLst>
              <a:gd name="adj" fmla="val 5556"/>
            </a:avLst>
          </a:prstGeom>
          <a:solidFill>
            <a:srgbClr val="CCFBF1"/>
          </a:solidFill>
          <a:ln w="12700">
            <a:solidFill>
              <a:srgbClr val="CCFBF1">
                <a:alpha val="0"/>
              </a:srgbClr>
            </a:solidFill>
            <a:prstDash val="solid"/>
          </a:ln>
        </p:spPr>
        <p:txBody>
          <a:bodyPr/>
          <a:lstStyle/>
          <a:p>
            <a:endParaRPr lang="en-US"/>
          </a:p>
        </p:txBody>
      </p:sp>
      <p:sp>
        <p:nvSpPr>
          <p:cNvPr id="15" name="Text 13"/>
          <p:cNvSpPr/>
          <p:nvPr/>
        </p:nvSpPr>
        <p:spPr>
          <a:xfrm>
            <a:off x="8165592" y="2167128"/>
            <a:ext cx="3127248" cy="164592"/>
          </a:xfrm>
          <a:prstGeom prst="rect">
            <a:avLst/>
          </a:prstGeom>
          <a:noFill/>
          <a:ln/>
        </p:spPr>
        <p:txBody>
          <a:bodyPr wrap="square" lIns="0" tIns="0" rIns="0" bIns="0" rtlCol="0" anchor="ctr"/>
          <a:lstStyle/>
          <a:p>
            <a:pPr marL="0" indent="0" algn="ctr">
              <a:buNone/>
            </a:pPr>
            <a:r>
              <a:rPr lang="en-US" sz="1550" b="1" dirty="0">
                <a:solidFill>
                  <a:srgbClr val="0EA5A4"/>
                </a:solidFill>
                <a:latin typeface="Aptos" pitchFamily="34" charset="0"/>
                <a:ea typeface="Aptos" pitchFamily="34" charset="-122"/>
                <a:cs typeface="Aptos" pitchFamily="34" charset="-120"/>
              </a:rPr>
              <a:t>Best call for SNHU Travel</a:t>
            </a:r>
            <a:endParaRPr lang="en-US" sz="1550" dirty="0"/>
          </a:p>
        </p:txBody>
      </p:sp>
      <p:sp>
        <p:nvSpPr>
          <p:cNvPr id="16" name="Text 14"/>
          <p:cNvSpPr/>
          <p:nvPr/>
        </p:nvSpPr>
        <p:spPr>
          <a:xfrm>
            <a:off x="8147304" y="2743200"/>
            <a:ext cx="3163824" cy="2057400"/>
          </a:xfrm>
          <a:prstGeom prst="rect">
            <a:avLst/>
          </a:prstGeom>
          <a:noFill/>
          <a:ln/>
        </p:spPr>
        <p:txBody>
          <a:bodyPr wrap="square" lIns="508" tIns="508" rIns="508" bIns="508" rtlCol="0" anchor="t"/>
          <a:lstStyle/>
          <a:p>
            <a:pPr marL="177800" indent="-177800">
              <a:buSzPct val="100000"/>
              <a:buChar char="•"/>
            </a:pPr>
            <a:r>
              <a:rPr lang="en-US" sz="1360" dirty="0">
                <a:solidFill>
                  <a:srgbClr val="334155"/>
                </a:solidFill>
                <a:latin typeface="Aptos" pitchFamily="34" charset="0"/>
                <a:ea typeface="Aptos" pitchFamily="34" charset="-122"/>
                <a:cs typeface="Aptos" pitchFamily="34" charset="-120"/>
              </a:rPr>
              <a:t>Scrum-Agile fit the project better</a:t>
            </a:r>
            <a:endParaRPr lang="en-US" sz="1360" dirty="0"/>
          </a:p>
          <a:p>
            <a:pPr marL="177800" indent="-177800">
              <a:buSzPct val="100000"/>
              <a:buChar char="•"/>
            </a:pPr>
            <a:r>
              <a:rPr lang="en-US" sz="1360" dirty="0">
                <a:solidFill>
                  <a:srgbClr val="334155"/>
                </a:solidFill>
                <a:latin typeface="Aptos" pitchFamily="34" charset="0"/>
                <a:ea typeface="Aptos" pitchFamily="34" charset="-122"/>
                <a:cs typeface="Aptos" pitchFamily="34" charset="-120"/>
              </a:rPr>
              <a:t>The project depended on feedback and reprioritization</a:t>
            </a:r>
            <a:endParaRPr lang="en-US" sz="1360" dirty="0"/>
          </a:p>
          <a:p>
            <a:pPr marL="177800" indent="-177800">
              <a:buSzPct val="100000"/>
              <a:buChar char="•"/>
            </a:pPr>
            <a:r>
              <a:rPr lang="en-US" sz="1360" dirty="0">
                <a:solidFill>
                  <a:srgbClr val="334155"/>
                </a:solidFill>
                <a:latin typeface="Aptos" pitchFamily="34" charset="0"/>
                <a:ea typeface="Aptos" pitchFamily="34" charset="-122"/>
                <a:cs typeface="Aptos" pitchFamily="34" charset="-120"/>
              </a:rPr>
              <a:t>Hybrid may still help on more predictable efforts</a:t>
            </a:r>
            <a:endParaRPr lang="en-US" sz="1360" dirty="0"/>
          </a:p>
        </p:txBody>
      </p:sp>
      <p:sp>
        <p:nvSpPr>
          <p:cNvPr id="18" name="Text 16"/>
          <p:cNvSpPr/>
          <p:nvPr/>
        </p:nvSpPr>
        <p:spPr>
          <a:xfrm>
            <a:off x="1234440" y="5769864"/>
            <a:ext cx="9646920" cy="146304"/>
          </a:xfrm>
          <a:prstGeom prst="rect">
            <a:avLst/>
          </a:prstGeom>
          <a:noFill/>
          <a:ln/>
        </p:spPr>
        <p:txBody>
          <a:bodyPr wrap="square" lIns="0" tIns="0" rIns="0" bIns="0" rtlCol="0" anchor="ctr"/>
          <a:lstStyle/>
          <a:p>
            <a:pPr marL="0" indent="0" algn="ctr">
              <a:buNone/>
            </a:pPr>
            <a:r>
              <a:rPr lang="en-US" sz="1220" dirty="0" err="1">
                <a:latin typeface="Aptos" pitchFamily="34" charset="0"/>
                <a:ea typeface="Aptos" pitchFamily="34" charset="-122"/>
                <a:cs typeface="Aptos" pitchFamily="34" charset="-120"/>
              </a:rPr>
              <a:t>Gemino</a:t>
            </a:r>
            <a:r>
              <a:rPr lang="en-US" sz="1220" dirty="0">
                <a:latin typeface="Aptos" pitchFamily="34" charset="0"/>
                <a:ea typeface="Aptos" pitchFamily="34" charset="-122"/>
                <a:cs typeface="Aptos" pitchFamily="34" charset="-120"/>
              </a:rPr>
              <a:t> et al. (2021) found that hybrid approaches were common and effective, which is why </a:t>
            </a:r>
            <a:r>
              <a:rPr lang="en-US" sz="1220" dirty="0" err="1">
                <a:latin typeface="Aptos" pitchFamily="34" charset="0"/>
                <a:ea typeface="Aptos" pitchFamily="34" charset="-122"/>
                <a:cs typeface="Aptos" pitchFamily="34" charset="-120"/>
              </a:rPr>
              <a:t>ChadaTech</a:t>
            </a:r>
            <a:r>
              <a:rPr lang="en-US" sz="1220" dirty="0">
                <a:latin typeface="Aptos" pitchFamily="34" charset="0"/>
                <a:ea typeface="Aptos" pitchFamily="34" charset="-122"/>
                <a:cs typeface="Aptos" pitchFamily="34" charset="-120"/>
              </a:rPr>
              <a:t> should stay flexible even while favoring Scrum for work like SNHU Travel.</a:t>
            </a:r>
          </a:p>
        </p:txBody>
      </p:sp>
      <p:sp>
        <p:nvSpPr>
          <p:cNvPr id="19" name="Text 17"/>
          <p:cNvSpPr/>
          <p:nvPr/>
        </p:nvSpPr>
        <p:spPr>
          <a:xfrm>
            <a:off x="530352" y="6583680"/>
            <a:ext cx="10515600" cy="146304"/>
          </a:xfrm>
          <a:prstGeom prst="rect">
            <a:avLst/>
          </a:prstGeom>
          <a:noFill/>
          <a:ln/>
        </p:spPr>
        <p:txBody>
          <a:bodyPr wrap="square" lIns="0" tIns="0" rIns="0" bIns="0" rtlCol="0" anchor="ctr">
            <a:normAutofit/>
          </a:bodyPr>
          <a:lstStyle/>
          <a:p>
            <a:r>
              <a:rPr lang="en-US" sz="850" i="1" dirty="0">
                <a:solidFill>
                  <a:srgbClr val="64748B"/>
                </a:solidFill>
                <a:latin typeface="Aptos" pitchFamily="34" charset="0"/>
                <a:ea typeface="Aptos" pitchFamily="34" charset="-122"/>
                <a:cs typeface="Aptos" pitchFamily="34" charset="-120"/>
              </a:rPr>
              <a:t>(</a:t>
            </a:r>
            <a:r>
              <a:rPr lang="en-US" sz="850" i="1" dirty="0" err="1">
                <a:solidFill>
                  <a:srgbClr val="64748B"/>
                </a:solidFill>
                <a:latin typeface="Aptos" pitchFamily="34" charset="0"/>
                <a:ea typeface="Aptos" pitchFamily="34" charset="-122"/>
                <a:cs typeface="Aptos" pitchFamily="34" charset="-120"/>
              </a:rPr>
              <a:t>Gemino</a:t>
            </a:r>
            <a:r>
              <a:rPr lang="en-US" sz="850" i="1" dirty="0">
                <a:solidFill>
                  <a:srgbClr val="64748B"/>
                </a:solidFill>
                <a:latin typeface="Aptos" pitchFamily="34" charset="0"/>
                <a:ea typeface="Aptos" pitchFamily="34" charset="-122"/>
                <a:cs typeface="Aptos" pitchFamily="34" charset="-120"/>
              </a:rPr>
              <a:t> et al., 2021; Agile Alliance, 2024)</a:t>
            </a:r>
            <a:endParaRPr lang="en-US" sz="850" dirty="0"/>
          </a:p>
        </p:txBody>
      </p:sp>
      <p:sp>
        <p:nvSpPr>
          <p:cNvPr id="25" name="Slide Number Placeholder 0"/>
          <p:cNvSpPr>
            <a:spLocks noGrp="1"/>
          </p:cNvSpPr>
          <p:nvPr>
            <p:ph type="sldNum" sz="quarter" idx="4294967295"/>
          </p:nvPr>
        </p:nvSpPr>
        <p:spPr>
          <a:xfrm>
            <a:off x="11658600" y="6583680"/>
            <a:ext cx="320040" cy="137160"/>
          </a:xfrm>
          <a:prstGeom prst="rect">
            <a:avLst/>
          </a:prstGeom>
          <a:extLst>
            <a:ext uri="{C572A759-6A51-4108-AA02-DFA0A04FC94B}">
              <ma14:wrappingTextBoxFlag xmlns:ma14="http://schemas.microsoft.com/office/mac/drawingml/2011/main" xmlns="" val="0"/>
            </a:ext>
          </a:extLst>
        </p:spPr>
        <p:txBody>
          <a:bodyPr/>
          <a:lstStyle>
            <a:lvl1pPr>
              <a:defRPr sz="900">
                <a:solidFill>
                  <a:srgbClr val="475569"/>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694944"/>
            <a:ext cx="8046720" cy="384048"/>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References</a:t>
            </a:r>
            <a:endParaRPr lang="en-US" sz="2400" dirty="0"/>
          </a:p>
        </p:txBody>
      </p:sp>
      <p:sp>
        <p:nvSpPr>
          <p:cNvPr id="3" name="Shape 1"/>
          <p:cNvSpPr/>
          <p:nvPr/>
        </p:nvSpPr>
        <p:spPr>
          <a:xfrm>
            <a:off x="548640" y="1133856"/>
            <a:ext cx="11064240" cy="0"/>
          </a:xfrm>
          <a:prstGeom prst="line">
            <a:avLst/>
          </a:prstGeom>
          <a:noFill/>
          <a:ln w="15240">
            <a:solidFill>
              <a:srgbClr val="CBD5E1"/>
            </a:solidFill>
            <a:prstDash val="solid"/>
          </a:ln>
        </p:spPr>
        <p:txBody>
          <a:bodyPr/>
          <a:lstStyle/>
          <a:p>
            <a:endParaRPr lang="en-US"/>
          </a:p>
        </p:txBody>
      </p:sp>
      <p:sp>
        <p:nvSpPr>
          <p:cNvPr id="4" name="Shape 2"/>
          <p:cNvSpPr/>
          <p:nvPr/>
        </p:nvSpPr>
        <p:spPr>
          <a:xfrm>
            <a:off x="658368" y="1737360"/>
            <a:ext cx="5394960" cy="4526280"/>
          </a:xfrm>
          <a:prstGeom prst="roundRect">
            <a:avLst>
              <a:gd name="adj" fmla="val 808"/>
            </a:avLst>
          </a:prstGeom>
          <a:solidFill>
            <a:srgbClr val="FFFFFF"/>
          </a:solidFill>
          <a:ln w="13970">
            <a:solidFill>
              <a:srgbClr val="E2E8F0"/>
            </a:solidFill>
            <a:prstDash val="solid"/>
          </a:ln>
        </p:spPr>
        <p:txBody>
          <a:bodyPr/>
          <a:lstStyle/>
          <a:p>
            <a:endParaRPr lang="en-US"/>
          </a:p>
        </p:txBody>
      </p:sp>
      <p:sp>
        <p:nvSpPr>
          <p:cNvPr id="5" name="Shape 3"/>
          <p:cNvSpPr/>
          <p:nvPr/>
        </p:nvSpPr>
        <p:spPr>
          <a:xfrm>
            <a:off x="6144768" y="1737360"/>
            <a:ext cx="5394960" cy="4526280"/>
          </a:xfrm>
          <a:prstGeom prst="roundRect">
            <a:avLst>
              <a:gd name="adj" fmla="val 808"/>
            </a:avLst>
          </a:prstGeom>
          <a:solidFill>
            <a:srgbClr val="FFFFFF"/>
          </a:solidFill>
          <a:ln w="13970">
            <a:solidFill>
              <a:srgbClr val="E2E8F0"/>
            </a:solidFill>
            <a:prstDash val="solid"/>
          </a:ln>
        </p:spPr>
        <p:txBody>
          <a:bodyPr/>
          <a:lstStyle/>
          <a:p>
            <a:endParaRPr lang="en-US"/>
          </a:p>
        </p:txBody>
      </p:sp>
      <p:sp>
        <p:nvSpPr>
          <p:cNvPr id="6" name="Text 4"/>
          <p:cNvSpPr/>
          <p:nvPr/>
        </p:nvSpPr>
        <p:spPr>
          <a:xfrm>
            <a:off x="868680" y="1938528"/>
            <a:ext cx="4937760" cy="164592"/>
          </a:xfrm>
          <a:prstGeom prst="rect">
            <a:avLst/>
          </a:prstGeom>
          <a:noFill/>
          <a:ln/>
        </p:spPr>
        <p:txBody>
          <a:bodyPr wrap="square" lIns="0" tIns="0" rIns="0" bIns="0" rtlCol="0" anchor="ctr"/>
          <a:lstStyle/>
          <a:p>
            <a:pPr marL="0" indent="0">
              <a:buNone/>
            </a:pPr>
            <a:r>
              <a:rPr lang="en-US" sz="1480" b="1" dirty="0">
                <a:solidFill>
                  <a:srgbClr val="2563EB"/>
                </a:solidFill>
                <a:latin typeface="Aptos" pitchFamily="34" charset="0"/>
                <a:ea typeface="Aptos" pitchFamily="34" charset="-122"/>
                <a:cs typeface="Aptos" pitchFamily="34" charset="-120"/>
              </a:rPr>
              <a:t>Part 1</a:t>
            </a:r>
            <a:endParaRPr lang="en-US" sz="1480" dirty="0"/>
          </a:p>
        </p:txBody>
      </p:sp>
      <p:sp>
        <p:nvSpPr>
          <p:cNvPr id="7" name="Text 5"/>
          <p:cNvSpPr/>
          <p:nvPr/>
        </p:nvSpPr>
        <p:spPr>
          <a:xfrm>
            <a:off x="6355080" y="1938528"/>
            <a:ext cx="4937760" cy="164592"/>
          </a:xfrm>
          <a:prstGeom prst="rect">
            <a:avLst/>
          </a:prstGeom>
          <a:noFill/>
          <a:ln/>
        </p:spPr>
        <p:txBody>
          <a:bodyPr wrap="square" lIns="0" tIns="0" rIns="0" bIns="0" rtlCol="0" anchor="ctr"/>
          <a:lstStyle/>
          <a:p>
            <a:pPr marL="0" indent="0">
              <a:buNone/>
            </a:pPr>
            <a:r>
              <a:rPr lang="en-US" sz="1480" b="1" dirty="0">
                <a:solidFill>
                  <a:srgbClr val="0EA5A4"/>
                </a:solidFill>
                <a:latin typeface="Aptos" pitchFamily="34" charset="0"/>
                <a:ea typeface="Aptos" pitchFamily="34" charset="-122"/>
                <a:cs typeface="Aptos" pitchFamily="34" charset="-120"/>
              </a:rPr>
              <a:t>Part 2</a:t>
            </a:r>
            <a:endParaRPr lang="en-US" sz="1480" dirty="0"/>
          </a:p>
        </p:txBody>
      </p:sp>
      <p:sp>
        <p:nvSpPr>
          <p:cNvPr id="8" name="Text 6"/>
          <p:cNvSpPr/>
          <p:nvPr/>
        </p:nvSpPr>
        <p:spPr>
          <a:xfrm>
            <a:off x="859536" y="2286000"/>
            <a:ext cx="4754880" cy="3657600"/>
          </a:xfrm>
          <a:prstGeom prst="rect">
            <a:avLst/>
          </a:prstGeom>
          <a:noFill/>
          <a:ln/>
        </p:spPr>
        <p:txBody>
          <a:bodyPr wrap="square" lIns="254" tIns="254" rIns="254" bIns="254" rtlCol="0" anchor="ctr"/>
          <a:lstStyle/>
          <a:p>
            <a:pPr marL="152400" indent="-152400">
              <a:buSzPct val="100000"/>
              <a:buChar char="•"/>
            </a:pPr>
            <a:r>
              <a:rPr lang="en-US" sz="1110" dirty="0"/>
              <a:t>Agile Alliance. (2024, July 27). Agile and deadlines: How to align Agile delivery with long-term planning. https://</a:t>
            </a:r>
            <a:r>
              <a:rPr lang="en-US" sz="1110" dirty="0" err="1"/>
              <a:t>agilealliance.org</a:t>
            </a:r>
            <a:r>
              <a:rPr lang="en-US" sz="1110" dirty="0"/>
              <a:t>/agile-and-deadlines-how-to-align-agile-delivery-with-long-term-planning/</a:t>
            </a:r>
          </a:p>
          <a:p>
            <a:pPr marL="152400" indent="-152400">
              <a:buSzPct val="100000"/>
              <a:buChar char="•"/>
            </a:pPr>
            <a:r>
              <a:rPr lang="en-US" sz="1110" dirty="0" err="1">
                <a:latin typeface="Aptos" pitchFamily="34" charset="0"/>
                <a:ea typeface="Aptos" pitchFamily="34" charset="-122"/>
                <a:cs typeface="Aptos" pitchFamily="34" charset="-120"/>
              </a:rPr>
              <a:t>Gemino</a:t>
            </a:r>
            <a:r>
              <a:rPr lang="en-US" sz="1110" dirty="0">
                <a:latin typeface="Aptos" pitchFamily="34" charset="0"/>
                <a:ea typeface="Aptos" pitchFamily="34" charset="-122"/>
                <a:cs typeface="Aptos" pitchFamily="34" charset="-120"/>
              </a:rPr>
              <a:t>, A., Reich, B. H., &amp; </a:t>
            </a:r>
            <a:r>
              <a:rPr lang="en-US" sz="1110" dirty="0" err="1">
                <a:latin typeface="Aptos" pitchFamily="34" charset="0"/>
                <a:ea typeface="Aptos" pitchFamily="34" charset="-122"/>
                <a:cs typeface="Aptos" pitchFamily="34" charset="-120"/>
              </a:rPr>
              <a:t>Serrador</a:t>
            </a:r>
            <a:r>
              <a:rPr lang="en-US" sz="1110" dirty="0">
                <a:latin typeface="Aptos" pitchFamily="34" charset="0"/>
                <a:ea typeface="Aptos" pitchFamily="34" charset="-122"/>
                <a:cs typeface="Aptos" pitchFamily="34" charset="-120"/>
              </a:rPr>
              <a:t>, P. M. (2021). Agile, traditional, and hybrid approaches to project success: Is hybrid a poor second choice? Project Management Journal, 52(2), 161-175. https://</a:t>
            </a:r>
            <a:r>
              <a:rPr lang="en-US" sz="1110" dirty="0" err="1">
                <a:latin typeface="Aptos" pitchFamily="34" charset="0"/>
                <a:ea typeface="Aptos" pitchFamily="34" charset="-122"/>
                <a:cs typeface="Aptos" pitchFamily="34" charset="-120"/>
              </a:rPr>
              <a:t>www.researchgate.net</a:t>
            </a:r>
            <a:r>
              <a:rPr lang="en-US" sz="1110" dirty="0">
                <a:latin typeface="Aptos" pitchFamily="34" charset="0"/>
                <a:ea typeface="Aptos" pitchFamily="34" charset="-122"/>
                <a:cs typeface="Aptos" pitchFamily="34" charset="-120"/>
              </a:rPr>
              <a:t>/publication/347628803_Agile_Traditional_and_Hybrid_Approaches_to_Project_Success_Is_Hybrid_a_Poor_Second_Choice</a:t>
            </a:r>
          </a:p>
          <a:p>
            <a:pPr marL="152400" indent="-152400">
              <a:buSzPct val="100000"/>
              <a:buChar char="•"/>
            </a:pPr>
            <a:r>
              <a:rPr lang="en-US" sz="1110" dirty="0">
                <a:latin typeface="Aptos" pitchFamily="34" charset="0"/>
                <a:ea typeface="Aptos" pitchFamily="34" charset="-122"/>
                <a:cs typeface="Aptos" pitchFamily="34" charset="-120"/>
              </a:rPr>
              <a:t>Iqbal, M. (2021, November 3). What is iterative, incremental delivery? The hunt for the perfect example. Scrum. https://</a:t>
            </a:r>
            <a:r>
              <a:rPr lang="en-US" sz="1110" dirty="0" err="1">
                <a:latin typeface="Aptos" pitchFamily="34" charset="0"/>
                <a:ea typeface="Aptos" pitchFamily="34" charset="-122"/>
                <a:cs typeface="Aptos" pitchFamily="34" charset="-120"/>
              </a:rPr>
              <a:t>www.scrum.org</a:t>
            </a:r>
            <a:r>
              <a:rPr lang="en-US" sz="1110" dirty="0">
                <a:latin typeface="Aptos" pitchFamily="34" charset="0"/>
                <a:ea typeface="Aptos" pitchFamily="34" charset="-122"/>
                <a:cs typeface="Aptos" pitchFamily="34" charset="-120"/>
              </a:rPr>
              <a:t>/resources/blog/what-iterative-incremental-delivery-hunt-perfect-example</a:t>
            </a:r>
          </a:p>
          <a:p>
            <a:pPr marL="152400" indent="-152400">
              <a:buSzPct val="100000"/>
              <a:buChar char="•"/>
            </a:pPr>
            <a:r>
              <a:rPr lang="en-US" sz="1110" dirty="0">
                <a:latin typeface="Aptos" pitchFamily="34" charset="0"/>
                <a:ea typeface="Aptos" pitchFamily="34" charset="-122"/>
                <a:cs typeface="Aptos" pitchFamily="34" charset="-120"/>
              </a:rPr>
              <a:t>Schwaber, K., &amp; Sutherland, J. (2020, November). The Scrum Guide: The definitive guide to Scrum: The rules of the game. Scrum Guides. </a:t>
            </a:r>
            <a:r>
              <a:rPr lang="en-US" sz="1110" dirty="0">
                <a:latin typeface="Aptos" pitchFamily="34" charset="0"/>
                <a:ea typeface="Aptos" pitchFamily="34" charset="-122"/>
                <a:cs typeface="Aptos" pitchFamily="34" charset="-120"/>
                <a:hlinkClick r:id="rId3">
                  <a:extLst>
                    <a:ext uri="{A12FA001-AC4F-418D-AE19-62706E023703}">
                      <ahyp:hlinkClr xmlns:ahyp="http://schemas.microsoft.com/office/drawing/2018/hyperlinkcolor" val="tx"/>
                    </a:ext>
                  </a:extLst>
                </a:hlinkClick>
              </a:rPr>
              <a:t>https://scrumguides.org/docs/scrumguide/v2020/2020-Scrum-Guide-US.pdf</a:t>
            </a:r>
            <a:endParaRPr lang="en-US" sz="1110" dirty="0">
              <a:latin typeface="Aptos" pitchFamily="34" charset="0"/>
              <a:ea typeface="Aptos" pitchFamily="34" charset="-122"/>
              <a:cs typeface="Aptos" pitchFamily="34" charset="-120"/>
            </a:endParaRPr>
          </a:p>
        </p:txBody>
      </p:sp>
      <p:sp>
        <p:nvSpPr>
          <p:cNvPr id="9" name="Text 7"/>
          <p:cNvSpPr/>
          <p:nvPr/>
        </p:nvSpPr>
        <p:spPr>
          <a:xfrm>
            <a:off x="6345936" y="2286000"/>
            <a:ext cx="4754880" cy="3657600"/>
          </a:xfrm>
          <a:prstGeom prst="rect">
            <a:avLst/>
          </a:prstGeom>
          <a:noFill/>
          <a:ln/>
        </p:spPr>
        <p:txBody>
          <a:bodyPr wrap="square" lIns="254" tIns="254" rIns="254" bIns="254" rtlCol="0" anchor="ctr"/>
          <a:lstStyle/>
          <a:p>
            <a:pPr marL="152400" indent="-152400">
              <a:buSzPct val="100000"/>
              <a:buChar char="•"/>
            </a:pPr>
            <a:r>
              <a:rPr lang="en-US" sz="1110" dirty="0">
                <a:latin typeface="Aptos" pitchFamily="34" charset="0"/>
                <a:ea typeface="Aptos" pitchFamily="34" charset="-122"/>
                <a:cs typeface="Aptos" pitchFamily="34" charset="-120"/>
              </a:rPr>
              <a:t>Southern New Hampshire University. (n.d.-a). CS 250 Product Owner and Scrum-agile team. https://snhu-media.snhu.edu/files/course_repository/undergraduate/cs/cs250/storyline/mod5/story_html5.html</a:t>
            </a:r>
            <a:endParaRPr lang="en-US" sz="1110" dirty="0"/>
          </a:p>
          <a:p>
            <a:pPr marL="152400" indent="-152400">
              <a:buSzPct val="100000"/>
              <a:buChar char="•"/>
            </a:pPr>
            <a:r>
              <a:rPr lang="en-US" sz="1110" dirty="0">
                <a:latin typeface="Aptos" pitchFamily="34" charset="0"/>
                <a:ea typeface="Aptos" pitchFamily="34" charset="-122"/>
                <a:cs typeface="Aptos" pitchFamily="34" charset="-120"/>
              </a:rPr>
              <a:t>Southern New Hampshire University. (n.d.-b). CS 250 Product Owner and User Focus Group. https://</a:t>
            </a:r>
            <a:r>
              <a:rPr lang="en-US" sz="1110" dirty="0" err="1">
                <a:latin typeface="Aptos" pitchFamily="34" charset="0"/>
                <a:ea typeface="Aptos" pitchFamily="34" charset="-122"/>
                <a:cs typeface="Aptos" pitchFamily="34" charset="-120"/>
              </a:rPr>
              <a:t>snhu-media.snhu.edu</a:t>
            </a:r>
            <a:r>
              <a:rPr lang="en-US" sz="1110" dirty="0">
                <a:latin typeface="Aptos" pitchFamily="34" charset="0"/>
                <a:ea typeface="Aptos" pitchFamily="34" charset="-122"/>
                <a:cs typeface="Aptos" pitchFamily="34" charset="-120"/>
              </a:rPr>
              <a:t>/files/course_repository/undergraduate/cs/cs250/storyline/mod3/story_html5.html</a:t>
            </a:r>
            <a:endParaRPr lang="en-US" sz="1110" dirty="0"/>
          </a:p>
          <a:p>
            <a:pPr marL="152400" indent="-152400">
              <a:buSzPct val="100000"/>
              <a:buChar char="•"/>
            </a:pPr>
            <a:r>
              <a:rPr lang="en-US" sz="1110" dirty="0">
                <a:latin typeface="Aptos" pitchFamily="34" charset="0"/>
                <a:ea typeface="Aptos" pitchFamily="34" charset="-122"/>
                <a:cs typeface="Aptos" pitchFamily="34" charset="-120"/>
              </a:rPr>
              <a:t>Southern New Hampshire University. (n.d.-c). CS 250 Vision Quest software case study. https://learn.snhu.edu/content/enforced/2200182-CS-250-12292.202616-1/course_documents/CS%20250%20Vision%20Quest%20Software%20Case%20Study.pdf?isCourseFile=true&amp;ou=2200182</a:t>
            </a:r>
            <a:endParaRPr lang="en-US" sz="1110" dirty="0"/>
          </a:p>
        </p:txBody>
      </p:sp>
      <p:sp>
        <p:nvSpPr>
          <p:cNvPr id="25" name="Slide Number Placeholder 0"/>
          <p:cNvSpPr>
            <a:spLocks noGrp="1"/>
          </p:cNvSpPr>
          <p:nvPr>
            <p:ph type="sldNum" sz="quarter" idx="4294967295"/>
          </p:nvPr>
        </p:nvSpPr>
        <p:spPr>
          <a:xfrm>
            <a:off x="11658600" y="6583680"/>
            <a:ext cx="320040" cy="137160"/>
          </a:xfrm>
          <a:prstGeom prst="rect">
            <a:avLst/>
          </a:prstGeom>
          <a:extLst>
            <a:ext uri="{C572A759-6A51-4108-AA02-DFA0A04FC94B}">
              <ma14:wrappingTextBoxFlag xmlns:ma14="http://schemas.microsoft.com/office/mac/drawingml/2011/main" xmlns="" val="0"/>
            </a:ext>
          </a:extLst>
        </p:spPr>
        <p:txBody>
          <a:bodyPr/>
          <a:lstStyle>
            <a:lvl1pPr>
              <a:defRPr sz="900">
                <a:solidFill>
                  <a:srgbClr val="475569"/>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609</TotalTime>
  <Words>1977</Words>
  <Application>Microsoft Macintosh PowerPoint</Application>
  <PresentationFormat>Widescreen</PresentationFormat>
  <Paragraphs>102</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Scrum-Agile at ChadaTech: CS250 Final Project</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Scrum-Agile at ChadaTech: Lessons from the SNHU Travel Project</dc:title>
  <dc:subject>CS 250 Agile Presentation</dc:subject>
  <dc:creator>OpenAI</dc:creator>
  <cp:lastModifiedBy>Robert, Andrew</cp:lastModifiedBy>
  <cp:revision>5</cp:revision>
  <dcterms:created xsi:type="dcterms:W3CDTF">2026-04-18T05:26:43Z</dcterms:created>
  <dcterms:modified xsi:type="dcterms:W3CDTF">2026-04-19T22:01:17Z</dcterms:modified>
</cp:coreProperties>
</file>